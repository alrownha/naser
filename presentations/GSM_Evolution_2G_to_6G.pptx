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ذروة التنزيل (Mbps)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#,##0.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7CB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B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5C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2G (EDGE)</c:v>
                  </c:pt>
                  <c:pt idx="1">
                    <c:v>3G (HSPA+)</c:v>
                  </c:pt>
                  <c:pt idx="2">
                    <c:v>4G (LTE-A Pro)</c:v>
                  </c:pt>
                  <c:pt idx="3">
                    <c:v>5G (NR)</c:v>
                  </c:pt>
                  <c:pt idx="4">
                    <c:v>5G-A</c:v>
                  </c:pt>
                  <c:pt idx="5">
                    <c:v>6G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0.384</c:v>
                </c:pt>
                <c:pt idx="1">
                  <c:v>42</c:v>
                </c:pt>
                <c:pt idx="2">
                  <c:v>3000</c:v>
                </c:pt>
                <c:pt idx="3">
                  <c:v>20000</c:v>
                </c:pt>
                <c:pt idx="4">
                  <c:v>30000</c:v>
                </c:pt>
                <c:pt idx="5">
                  <c:v>1000000</c:v>
                </c:pt>
              </c:numCache>
            </c:numRef>
          </c:val>
        </c:ser>
        <c:dLbls>
          <c:numFmt formatCode="#,##0.###" sourceLinked="0"/>
          <c:txPr>
            <a:bodyPr/>
            <a:lstStyle/>
            <a:p>
              <a:pPr>
                <a:defRPr b="0" i="0" strike="noStrike" sz="1000" u="none">
                  <a:solidFill>
                    <a:srgbClr val="12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0000"/>
          <c:min val="0.01"/>
        </c:scaling>
        <c:delete val="0"/>
        <c:axPos val="l"/>
        <c:majorGridlines>
          <c:spPr>
            <a:ln w="6350" cap="flat">
              <a:solidFill>
                <a:srgbClr val="E6EC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4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4"/>
                    </a:solidFill>
                    <a:latin typeface="Arial"/>
                  </a:rPr>
                  <a:t>Mbps</a:t>
                </a:r>
              </a:p>
            </c:rich>
          </c:tx>
          <c:layout/>
          <c:overlay val="0"/>
        </c:title>
        <c:numFmt formatCode="#,##0.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B1F3A"/>
                </a:solidFill>
                <a:latin typeface="Arial"/>
              </a:defRPr>
            </a:pPr>
            <a:r>
              <a:rPr sz="1400" b="1" i="0" u="none" strike="noStrike">
                <a:solidFill>
                  <a:srgbClr val="0B1F3A"/>
                </a:solidFill>
                <a:latin typeface="Arial"/>
              </a:rPr>
              <a:t>زمن الاستجابة بالملّي ثانية (الأقل أفضل)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زمن الاستجابة (ms)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#,##0.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7CB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B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5C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2G</c:v>
                  </c:pt>
                  <c:pt idx="1">
                    <c:v>3G</c:v>
                  </c:pt>
                  <c:pt idx="2">
                    <c:v>4G</c:v>
                  </c:pt>
                  <c:pt idx="3">
                    <c:v>5G</c:v>
                  </c:pt>
                  <c:pt idx="4">
                    <c:v>5G-A</c:v>
                  </c:pt>
                  <c:pt idx="5">
                    <c:v>6G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</c:v>
                </c:pt>
                <c:pt idx="1">
                  <c:v>150</c:v>
                </c:pt>
                <c:pt idx="2">
                  <c:v>40</c:v>
                </c:pt>
                <c:pt idx="3">
                  <c:v>5</c:v>
                </c:pt>
                <c:pt idx="4">
                  <c:v>2</c:v>
                </c:pt>
                <c:pt idx="5">
                  <c:v>0.1</c:v>
                </c:pt>
              </c:numCache>
            </c:numRef>
          </c:val>
        </c:ser>
        <c:dLbls>
          <c:numFmt formatCode="#,##0.#" sourceLinked="0"/>
          <c:txPr>
            <a:bodyPr/>
            <a:lstStyle/>
            <a:p>
              <a:pPr>
                <a:defRPr b="0" i="0" strike="noStrike" sz="1000" u="none">
                  <a:solidFill>
                    <a:srgbClr val="12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"/>
          <c:min val="0.001"/>
        </c:scaling>
        <c:delete val="0"/>
        <c:axPos val="l"/>
        <c:majorGridlines>
          <c:spPr>
            <a:ln w="6350" cap="flat">
              <a:solidFill>
                <a:srgbClr val="E6ECF5"/>
              </a:solidFill>
              <a:prstDash val="solid"/>
              <a:round/>
            </a:ln>
          </c:spPr>
        </c:majorGridlines>
        <c:numFmt formatCode="#,##0.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B1F3A"/>
                </a:solidFill>
                <a:latin typeface="Arial"/>
              </a:defRPr>
            </a:pPr>
            <a:r>
              <a:rPr sz="1400" b="1" i="0" u="none" strike="noStrike">
                <a:solidFill>
                  <a:srgbClr val="0B1F3A"/>
                </a:solidFill>
                <a:latin typeface="Arial"/>
              </a:rPr>
              <a:t>كثافة الاتصال المستهدفة (جهاز لكل كم²)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الكثافة (جهاز/كم²)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7CB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B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5C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2G</c:v>
                  </c:pt>
                  <c:pt idx="1">
                    <c:v>3G</c:v>
                  </c:pt>
                  <c:pt idx="2">
                    <c:v>4G</c:v>
                  </c:pt>
                  <c:pt idx="3">
                    <c:v>5G</c:v>
                  </c:pt>
                  <c:pt idx="4">
                    <c:v>5G-A</c:v>
                  </c:pt>
                  <c:pt idx="5">
                    <c:v>6G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1000</c:v>
                </c:pt>
                <c:pt idx="1">
                  <c:v>10000</c:v>
                </c:pt>
                <c:pt idx="2">
                  <c:v>100000</c:v>
                </c:pt>
                <c:pt idx="3">
                  <c:v>1000000</c:v>
                </c:pt>
                <c:pt idx="4">
                  <c:v>5000000</c:v>
                </c:pt>
                <c:pt idx="5">
                  <c:v>10000000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00000"/>
          <c:min val="100"/>
        </c:scaling>
        <c:delete val="0"/>
        <c:axPos val="l"/>
        <c:majorGridlines>
          <c:spPr>
            <a:ln w="6350" cap="flat">
              <a:solidFill>
                <a:srgbClr val="E6ECF5"/>
              </a:solidFill>
              <a:prstDash val="solid"/>
              <a:round/>
            </a:ln>
          </c:spPr>
        </c:majorGridlines>
        <c:numFmt formatCode="#,##0.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الغلاف: عرض تنفيذي يستعرض تطور أجيال شبكات الجوال من 2G إلى 6G مع التركيز على ثلاث قدرات: سرعة البيانات، عدد المستخدمين/الكثافة، ونطاق التردد.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الملخص التنفيذي: أربعة أرقام رئيسية تلخص حجم القفزة بين الأجيال، والرسالة الأساسية أن كل جيل يعتمد على طيف أعلى وتقنيات هوائيات أذكى.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الخط الزمني: نمط الدورة العشرية. 1G ظهر في اليابان 1979 والدول الإسكندنافية 1981؛ 2G في فنلندا 1991؛ 3G في اليابان 2001؛ 4G في السويد والنرويج 2009؛ 5G في 2019؛ 5G-Advanced مع Release 18 في 2024؛ و6G متوقع حوالي 2030.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الجيل الثاني (2G): GSM — بداية الاتصالات الرقمية. الإطلاق التجاري الأول: فنلندا 1991 | المعيار: GSM / GPRS (2.5G) / EDGE (2.75G). نقطة تنفيذية: 2G وضع أسس التشغيل البيني العالمي والتجوال، ويجري إيقافه تدريجياً في معظم الأسواق لإعادة استخدام طيفه الثمين.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الجيل الثالث (3G): UMTS — الإنترنت المتنقل. الإطلاق التجاري الأول: اليابان 2001 | المعيار: UMTS / WCDMA ثم HSPA (3.5G) و HSPA+. نقطة تنفيذية: 3G حوّل الشبكة من صوت إلى بيانات، لكن كفاءته الطيفية المحدودة جعلته أول جيل يُطفأ قبل 2G في عدة أسواق.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الجيل الرابع (4G): LTE — عصر النطاق العريض المتنقل. الإطلاق التجاري الأول: السويد والنرويج 2009 | المعيار: LTE (Rel-8) ثم LTE-Advanced و LTE-Advanced Pro. نقطة تنفيذية: 4G هو العمود الفقري الحالي للإيرادات عالمياً، وسيستمر لعقد آخر على الأقل كطبقة تغطية أساسية جنباً إلى جنب مع 5G.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الجيل الخامس (5G): NR — منصة الصناعة والمجتمع الرقمي. الإطلاق التجاري: كوريا الجنوبية والولايات المتحدة 2019 | المعيار: 5G NR (Rel-15/16/17) | متطلبات ITU IMT-2020. نقطة تنفيذية: قيمة 5G الحقيقية في وضع Standalone وخدمات الأعمال (B2B)، لا في سرعة المستهلك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الجيل الخامس المتقدم (5G-Advanced): الجسر نحو 6G. المعيار: 3GPP Release 18 (تجميد 2024) و Release 19 (2025) | أول نشر تجاري 2024–2025. نقطة تنفيذية: 5G-Advanced ترقية برمجية إلى حد كبير على بنية 5G SA؛ فرصة لرفع الإيرادات دون استثمار رأسمالي ضخم.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الجيل السادس (6G): IMT-2030 — الشبكة الذكية الحسّاسة. إطار ITU-R IMT-2030 (2023) | المعيار 3GPP Release 20/21 (2027–2029) | الإطلاق التجاري المتوقع حوالي 2030. نقطة تنفيذية: 6G لن يستبدل 5G بل يبنى فوقه؛ القرار الحالي هو تأمين الطيف (FR3) وتحديث النواة إلى سحابة أصيلة استعداداً 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مثلث 5G: eMBB للنطاق العريض، URLLC للتطبيقات الحرجة، mMTC لإنترنت الأشياء الضخم. الجدول يقارن أهداف ITU بالأداء المقاس فعلياً.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جدول المقارنة: اقرأ الجدول من اليمين لليسار. ركّز على ثلاثة أعمدة: ذروة السرعة، الكثافة، ونطاق التردد.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مخطط سرعة البيانات على مقياس لوغاريتمي؛ كل درجة على المحور تعني عشرة أضعاف. 5G-Advanced قيمته تقريبية (30 Gbps مع تجميع حوامل موسع).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مخططان: زمن الاستجابة (يسار الجمهور: الكثافة، يمين: زمن الاستجابة). الأرقام لوغاريتمية.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خريطة الطيف على مقياس لوغاريتمي. لاحظ أن 5G وسّع النطاق إلى الموجات المليمترية، و6G يستهدف النطاق السنتيمتري 7–24 GHz ودون التيراهرتز مع إعادة استخدام الطيف الحالي.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تطور البنية: اقرأ الأعمدة من اليمين (2G) إلى اليسار (6G). الاتجاه العام: تسطيح الهرمية، ثم الافتراضية السحابية، ثم الذكاء الاصطناعي الأصيل.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حالات الاستخدام لكل جيل. لاحظ الانتقال من خدمات المستهلك إلى خدمات الصناعة والأقمار والاستشعار.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التوجهات والتوصيات: أربعة توجهات وأربع توصيات قابلة للتنفيذ خلال 2026–2030.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الختام: أربع رسائل، ثم فتح باب النقاش.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3840480" cy="5760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846320" y="15544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تطور شبكات الاتصالات المتنقلة</a:t>
            </a:r>
            <a:endParaRPr lang="ar-SA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846320" y="2697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BF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GSM (الجيل الثاني) إلى الجيل الخامس المتقدم والجيل السادس</a:t>
            </a:r>
            <a:endParaRPr lang="ar-SA" sz="2200" dirty="0"/>
          </a:p>
        </p:txBody>
      </p:sp>
      <p:sp>
        <p:nvSpPr>
          <p:cNvPr id="5" name="Shape 2"/>
          <p:cNvSpPr/>
          <p:nvPr/>
        </p:nvSpPr>
        <p:spPr>
          <a:xfrm>
            <a:off x="10835640" y="3566160"/>
            <a:ext cx="777240" cy="77724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3564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2G</a:t>
            </a:r>
            <a:endParaRPr lang="ar-SA" sz="1800" dirty="0"/>
          </a:p>
        </p:txBody>
      </p:sp>
      <p:sp>
        <p:nvSpPr>
          <p:cNvPr id="7" name="Shape 4"/>
          <p:cNvSpPr/>
          <p:nvPr/>
        </p:nvSpPr>
        <p:spPr>
          <a:xfrm>
            <a:off x="9875520" y="3566160"/>
            <a:ext cx="777240" cy="77724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87552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3G</a:t>
            </a:r>
            <a:endParaRPr lang="ar-SA" sz="1800" dirty="0"/>
          </a:p>
        </p:txBody>
      </p:sp>
      <p:sp>
        <p:nvSpPr>
          <p:cNvPr id="9" name="Shape 6"/>
          <p:cNvSpPr/>
          <p:nvPr/>
        </p:nvSpPr>
        <p:spPr>
          <a:xfrm>
            <a:off x="8915400" y="3566160"/>
            <a:ext cx="777240" cy="777240"/>
          </a:xfrm>
          <a:prstGeom prst="ellipse">
            <a:avLst/>
          </a:prstGeom>
          <a:solidFill>
            <a:srgbClr val="1FB8A6"/>
          </a:solidFill>
          <a:ln w="12700">
            <a:solidFill>
              <a:srgbClr val="1F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1540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</a:t>
            </a:r>
            <a:endParaRPr lang="ar-SA" sz="1800" dirty="0"/>
          </a:p>
        </p:txBody>
      </p:sp>
      <p:sp>
        <p:nvSpPr>
          <p:cNvPr id="11" name="Shape 8"/>
          <p:cNvSpPr/>
          <p:nvPr/>
        </p:nvSpPr>
        <p:spPr>
          <a:xfrm>
            <a:off x="7955280" y="3566160"/>
            <a:ext cx="777240" cy="777240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</a:t>
            </a:r>
            <a:endParaRPr lang="ar-SA" sz="1800" dirty="0"/>
          </a:p>
        </p:txBody>
      </p:sp>
      <p:sp>
        <p:nvSpPr>
          <p:cNvPr id="13" name="Shape 10"/>
          <p:cNvSpPr/>
          <p:nvPr/>
        </p:nvSpPr>
        <p:spPr>
          <a:xfrm>
            <a:off x="6995160" y="3566160"/>
            <a:ext cx="777240" cy="7772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9516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5G-A</a:t>
            </a:r>
            <a:endParaRPr lang="ar-SA" sz="1400" dirty="0"/>
          </a:p>
        </p:txBody>
      </p:sp>
      <p:sp>
        <p:nvSpPr>
          <p:cNvPr id="15" name="Shape 12"/>
          <p:cNvSpPr/>
          <p:nvPr/>
        </p:nvSpPr>
        <p:spPr>
          <a:xfrm>
            <a:off x="6035040" y="3566160"/>
            <a:ext cx="777240" cy="77724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3504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6G</a:t>
            </a:r>
            <a:endParaRPr lang="ar-SA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46634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تنفيذي | القدرات: سرعة نقل البيانات — عدد المستخدمين — نطاق التردد</a:t>
            </a:r>
            <a:endParaRPr lang="ar-SA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5120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8FA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سبتمبر 2026</a:t>
            </a:r>
            <a:endParaRPr lang="ar-SA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الملخص التنفيذي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عقود ونصف من التطور: كل جيل ضاعف القدرة نحو 10–100 مرة وفتح أسواقاً جديدة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8988552" y="15544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71432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×2.6 مليون</a:t>
            </a:r>
            <a:endParaRPr lang="ar-SA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171432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قفزة سرعة البيانات</a:t>
            </a:r>
            <a:endParaRPr lang="ar-S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71432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‪384 kbps‬ (EDGE) إلى ‪1 Tbps‬ (6G)</a:t>
            </a:r>
            <a:endParaRPr lang="ar-SA" sz="1050" dirty="0"/>
          </a:p>
        </p:txBody>
      </p:sp>
      <p:sp>
        <p:nvSpPr>
          <p:cNvPr id="8" name="Shape 6"/>
          <p:cNvSpPr/>
          <p:nvPr/>
        </p:nvSpPr>
        <p:spPr>
          <a:xfrm>
            <a:off x="6144768" y="15544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27648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 ms</a:t>
            </a:r>
            <a:endParaRPr lang="ar-SA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زمن الاستجابة المستهدف في 6G</a:t>
            </a:r>
            <a:endParaRPr lang="ar-SA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مقابل ≈‪500 ms‬ في 2G</a:t>
            </a:r>
            <a:endParaRPr lang="ar-SA" sz="1050" dirty="0"/>
          </a:p>
        </p:txBody>
      </p:sp>
      <p:sp>
        <p:nvSpPr>
          <p:cNvPr id="12" name="Shape 10"/>
          <p:cNvSpPr/>
          <p:nvPr/>
        </p:nvSpPr>
        <p:spPr>
          <a:xfrm>
            <a:off x="3300984" y="15544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83864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مليون</a:t>
            </a:r>
            <a:endParaRPr lang="ar-SA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483864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جهاز لكل كم² في 6G</a:t>
            </a:r>
            <a:endParaRPr lang="ar-S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مقابل مليون في 5G و100 ألف في 4G</a:t>
            </a:r>
            <a:endParaRPr lang="ar-SA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5544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1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GHz</a:t>
            </a:r>
            <a:endParaRPr lang="ar-SA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أقصى تردد مخطط</a:t>
            </a:r>
            <a:endParaRPr lang="ar-SA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‪900 MHz‬ في GSM إلى دون التيراهرتز</a:t>
            </a:r>
            <a:endParaRPr lang="ar-SA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65760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الرسالة الرئيسية</a:t>
            </a:r>
            <a:endParaRPr lang="ar-SA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069080"/>
            <a:ext cx="53309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3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انتقلت شبكات الجوال من نقل الصوت (2G) إلى نقل البيانات (3G/4G)، ثم إلى منصة تشغيل للصناعات (5G)، وتتجه لتصبح بنية تحتية ذكية تستشعر البيئة وتدمج الذكاء الاصطناعي (5G-Advanced و6G). كل جيل جديد اعتمد على طيف أعلى تردداً وأوسع عرضاً، مع تقنيات هوائيات أذكى لتعويض ضعف الانتشار.</a:t>
            </a:r>
            <a:endParaRPr lang="ar-SA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65760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يعنيه ذلك للقيادة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5486400" y="4160520"/>
            <a:ext cx="329184" cy="32918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1148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الطيف أصل استراتيجي: تأمين نطاقات 3.5 و6 و‪7–24 GHz‬ يحدد التنافسية للعقد القادم.</a:t>
            </a:r>
            <a:endParaRPr lang="ar-SA" sz="1300" dirty="0"/>
          </a:p>
        </p:txBody>
      </p:sp>
      <p:sp>
        <p:nvSpPr>
          <p:cNvPr id="26" name="Shape 24"/>
          <p:cNvSpPr/>
          <p:nvPr/>
        </p:nvSpPr>
        <p:spPr>
          <a:xfrm>
            <a:off x="5486400" y="4846320"/>
            <a:ext cx="329184" cy="32918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0" y="4846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006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5G-Advanced ترقية منخفضة التكلفة تفتح إيرادات XR والصناعة وإنترنت الأشياء.</a:t>
            </a:r>
            <a:endParaRPr lang="ar-SA" sz="1300" dirty="0"/>
          </a:p>
        </p:txBody>
      </p:sp>
      <p:sp>
        <p:nvSpPr>
          <p:cNvPr id="29" name="Shape 27"/>
          <p:cNvSpPr/>
          <p:nvPr/>
        </p:nvSpPr>
        <p:spPr>
          <a:xfrm>
            <a:off x="5486400" y="5532120"/>
            <a:ext cx="329184" cy="32918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0" y="5532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4864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الاستعداد لـ 6G يبدأ الآن: نواة سحابية أصيلة، وذكاء اصطناعي في التشغيل، وشراكات NTN.</a:t>
            </a:r>
            <a:endParaRPr lang="ar-SA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 الزمني: جيل جديد كل عشر سنوات تقريباً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الهاتف التناظري إلى الشبكة الذكية — سنوات الإطلاق التجاري الأول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61320" cy="0"/>
          </a:xfrm>
          <a:prstGeom prst="line">
            <a:avLst/>
          </a:prstGeom>
          <a:noFill/>
          <a:ln w="50800">
            <a:solidFill>
              <a:srgbClr val="D6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3108960"/>
            <a:ext cx="822960" cy="822960"/>
          </a:xfrm>
          <a:prstGeom prst="ellipse">
            <a:avLst/>
          </a:prstGeom>
          <a:solidFill>
            <a:srgbClr val="B8C0CE"/>
          </a:solidFill>
          <a:ln w="12700">
            <a:solidFill>
              <a:srgbClr val="B8C0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6132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1G</a:t>
            </a:r>
            <a:endParaRPr lang="ar-SA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10412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300" b="1" dirty="0">
                <a:solidFill>
                  <a:srgbClr val="B8C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1979–1981</a:t>
            </a:r>
            <a:endParaRPr lang="ar-SA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04120" y="19751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التناظري (NMT / AMPS)</a:t>
            </a:r>
            <a:endParaRPr lang="ar-SA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104120" y="230428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صوت تناظري فقط، بلا تشفير، بلا بيانات</a:t>
            </a:r>
            <a:endParaRPr lang="ar-SA" sz="1050" dirty="0"/>
          </a:p>
        </p:txBody>
      </p:sp>
      <p:sp>
        <p:nvSpPr>
          <p:cNvPr id="10" name="Shape 8"/>
          <p:cNvSpPr/>
          <p:nvPr/>
        </p:nvSpPr>
        <p:spPr>
          <a:xfrm>
            <a:off x="8938260" y="3108960"/>
            <a:ext cx="822960" cy="82296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3826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2G</a:t>
            </a:r>
            <a:endParaRPr lang="ar-SA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81060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3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1991</a:t>
            </a:r>
            <a:endParaRPr lang="ar-SA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81060" y="43525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2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GSM</a:t>
            </a:r>
            <a:endParaRPr lang="ar-SA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81060" y="46817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صوت رقمي + SMS ثم GPRS/EDGE</a:t>
            </a:r>
            <a:endParaRPr lang="ar-SA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3108960"/>
            <a:ext cx="822960" cy="8229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3G</a:t>
            </a:r>
            <a:endParaRPr lang="ar-SA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3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2001</a:t>
            </a:r>
            <a:endParaRPr lang="ar-SA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9751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2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UMTS / HSPA</a:t>
            </a:r>
            <a:endParaRPr lang="ar-SA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30428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الإنترنت المتنقل والهواتف الذكية</a:t>
            </a:r>
            <a:endParaRPr lang="ar-SA" sz="1050" dirty="0"/>
          </a:p>
        </p:txBody>
      </p:sp>
      <p:sp>
        <p:nvSpPr>
          <p:cNvPr id="20" name="Shape 18"/>
          <p:cNvSpPr/>
          <p:nvPr/>
        </p:nvSpPr>
        <p:spPr>
          <a:xfrm>
            <a:off x="5692140" y="3108960"/>
            <a:ext cx="822960" cy="822960"/>
          </a:xfrm>
          <a:prstGeom prst="ellipse">
            <a:avLst/>
          </a:prstGeom>
          <a:solidFill>
            <a:srgbClr val="1FB8A6"/>
          </a:solidFill>
          <a:ln w="12700">
            <a:solidFill>
              <a:srgbClr val="1F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9214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</a:t>
            </a:r>
            <a:endParaRPr lang="ar-SA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234940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300" b="1" dirty="0">
                <a:solidFill>
                  <a:srgbClr val="1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ar-SA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34940" y="43525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2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LTE / LTE-A</a:t>
            </a:r>
            <a:endParaRPr lang="ar-SA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234940" y="46817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النطاق العريض وشبكة IP الكاملة</a:t>
            </a:r>
            <a:endParaRPr lang="ar-SA" sz="1050" dirty="0"/>
          </a:p>
        </p:txBody>
      </p:sp>
      <p:sp>
        <p:nvSpPr>
          <p:cNvPr id="25" name="Shape 23"/>
          <p:cNvSpPr/>
          <p:nvPr/>
        </p:nvSpPr>
        <p:spPr>
          <a:xfrm>
            <a:off x="4069080" y="3108960"/>
            <a:ext cx="822960" cy="822960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6908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</a:t>
            </a:r>
            <a:endParaRPr lang="ar-SA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3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ar-SA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611880" y="19751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2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NR</a:t>
            </a:r>
            <a:endParaRPr lang="ar-SA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230428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eMBB + URLLC + mMTC</a:t>
            </a:r>
            <a:endParaRPr lang="ar-SA" sz="1050" dirty="0"/>
          </a:p>
        </p:txBody>
      </p:sp>
      <p:sp>
        <p:nvSpPr>
          <p:cNvPr id="30" name="Shape 28"/>
          <p:cNvSpPr/>
          <p:nvPr/>
        </p:nvSpPr>
        <p:spPr>
          <a:xfrm>
            <a:off x="2446020" y="3108960"/>
            <a:ext cx="822960" cy="82296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44602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5G-A</a:t>
            </a:r>
            <a:endParaRPr lang="ar-SA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988820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3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2024–2025</a:t>
            </a:r>
            <a:endParaRPr lang="ar-SA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988820" y="43525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2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5G-Advanced</a:t>
            </a:r>
            <a:endParaRPr lang="ar-SA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988820" y="46817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Rel-18/19: AI، XR، NTN، RedCap</a:t>
            </a:r>
            <a:endParaRPr lang="ar-SA" sz="1050" dirty="0"/>
          </a:p>
        </p:txBody>
      </p:sp>
      <p:sp>
        <p:nvSpPr>
          <p:cNvPr id="35" name="Shape 33"/>
          <p:cNvSpPr/>
          <p:nvPr/>
        </p:nvSpPr>
        <p:spPr>
          <a:xfrm>
            <a:off x="822960" y="3108960"/>
            <a:ext cx="822960" cy="82296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6G</a:t>
            </a:r>
            <a:endParaRPr lang="ar-SA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3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2030</a:t>
            </a:r>
            <a:endParaRPr lang="ar-SA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65760" y="19751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2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IMT-2030</a:t>
            </a:r>
            <a:endParaRPr lang="ar-SA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365760" y="230428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تيرابت، استشعار، ذكاء أصيل</a:t>
            </a:r>
            <a:endParaRPr lang="ar-SA" sz="1050" dirty="0"/>
          </a:p>
        </p:txBody>
      </p:sp>
      <p:sp>
        <p:nvSpPr>
          <p:cNvPr id="40" name="Shape 38"/>
          <p:cNvSpPr/>
          <p:nvPr/>
        </p:nvSpPr>
        <p:spPr>
          <a:xfrm>
            <a:off x="2208276" y="2971800"/>
            <a:ext cx="0" cy="1097280"/>
          </a:xfrm>
          <a:prstGeom prst="line">
            <a:avLst/>
          </a:prstGeom>
          <a:noFill/>
          <a:ln w="25400">
            <a:solidFill>
              <a:srgbClr val="00C2FF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156716" y="40690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56716" y="4069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نحن هنا 2026</a:t>
            </a:r>
            <a:endParaRPr lang="ar-SA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5715000"/>
            <a:ext cx="11091672" cy="594360"/>
          </a:xfrm>
          <a:prstGeom prst="roundRect">
            <a:avLst>
              <a:gd name="adj" fmla="val 18462"/>
            </a:avLst>
          </a:prstGeom>
          <a:solidFill>
            <a:srgbClr val="E6F6FC"/>
          </a:solidFill>
          <a:ln w="12700">
            <a:solidFill>
              <a:srgbClr val="E6F6F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1520" y="57150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نمط ثابت: كل جيل يستغرق نحو 10 سنوات من التقييس إلى النشر الواسع، ويتعايش مع الجيل السابق 10–15 سنة قبل إيقافه.</a:t>
            </a:r>
            <a:endParaRPr lang="ar-SA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320040"/>
            <a:ext cx="987552" cy="9875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652760" y="32004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2G</a:t>
            </a:r>
            <a:endParaRPr lang="ar-SA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921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الجيل الثاني (2G): GSM — بداية الاتصالات الرقمية</a:t>
            </a:r>
            <a:endParaRPr lang="ar-SA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الإطلاق التجاري الأول: فنلندا 1991 | المعيار: GSM / GPRS (2.5G) / EDGE (2.75G)</a:t>
            </a:r>
            <a:endParaRPr lang="ar-SA" sz="1200" dirty="0"/>
          </a:p>
        </p:txBody>
      </p:sp>
      <p:sp>
        <p:nvSpPr>
          <p:cNvPr id="6" name="Shape 4"/>
          <p:cNvSpPr/>
          <p:nvPr/>
        </p:nvSpPr>
        <p:spPr>
          <a:xfrm>
            <a:off x="9034272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98864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سرعة نقل البيانات</a:t>
            </a:r>
            <a:endParaRPr lang="ar-SA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98864" y="18928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 kbps</a:t>
            </a:r>
            <a:endParaRPr lang="ar-SA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198864" y="237744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GPRS حتى ‪171 kbps‬ | EDGE حتى ‪384 kbps‬</a:t>
            </a:r>
            <a:endParaRPr lang="ar-SA" sz="950" dirty="0"/>
          </a:p>
        </p:txBody>
      </p:sp>
      <p:sp>
        <p:nvSpPr>
          <p:cNvPr id="10" name="Shape 8"/>
          <p:cNvSpPr/>
          <p:nvPr/>
        </p:nvSpPr>
        <p:spPr>
          <a:xfrm>
            <a:off x="6245352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المستخدمون</a:t>
            </a:r>
            <a:endParaRPr lang="ar-SA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18928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لكل حامل</a:t>
            </a:r>
            <a:endParaRPr lang="ar-SA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37744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TDMA: 8 فتحات زمنية لكل قناة ‪200 kHz‬ | مئات المستخدمين لكل خلية</a:t>
            </a:r>
            <a:endParaRPr lang="ar-SA" sz="950" dirty="0"/>
          </a:p>
        </p:txBody>
      </p:sp>
      <p:sp>
        <p:nvSpPr>
          <p:cNvPr id="14" name="Shape 12"/>
          <p:cNvSpPr/>
          <p:nvPr/>
        </p:nvSpPr>
        <p:spPr>
          <a:xfrm>
            <a:off x="9034272" y="3172968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98864" y="32826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التردد</a:t>
            </a:r>
            <a:endParaRPr lang="ar-SA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98864" y="35570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/ 1800 MHz</a:t>
            </a:r>
            <a:endParaRPr lang="ar-SA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9198864" y="40416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وفي الأمريكتين: ‪850 / 1900 MHz‬</a:t>
            </a:r>
            <a:endParaRPr lang="ar-SA" sz="950" dirty="0"/>
          </a:p>
        </p:txBody>
      </p:sp>
      <p:sp>
        <p:nvSpPr>
          <p:cNvPr id="18" name="Shape 16"/>
          <p:cNvSpPr/>
          <p:nvPr/>
        </p:nvSpPr>
        <p:spPr>
          <a:xfrm>
            <a:off x="6245352" y="3172968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9944" y="32826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القناة</a:t>
            </a:r>
            <a:endParaRPr lang="ar-SA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35570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kHz</a:t>
            </a:r>
            <a:endParaRPr lang="ar-SA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40416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تعديل GMSK | تبديل الدوائر (Circuit Switched)</a:t>
            </a:r>
            <a:endParaRPr lang="ar-SA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1508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أتاح هذا الجيل؟</a:t>
            </a:r>
            <a:endParaRPr lang="ar-SA" sz="1700" dirty="0"/>
          </a:p>
        </p:txBody>
      </p:sp>
      <p:sp>
        <p:nvSpPr>
          <p:cNvPr id="23" name="Shape 21"/>
          <p:cNvSpPr/>
          <p:nvPr/>
        </p:nvSpPr>
        <p:spPr>
          <a:xfrm>
            <a:off x="5715000" y="2011680"/>
            <a:ext cx="502920" cy="502920"/>
          </a:xfrm>
          <a:prstGeom prst="ellipse">
            <a:avLst/>
          </a:prstGeom>
          <a:solidFill>
            <a:srgbClr val="EAECEF"/>
          </a:solidFill>
          <a:ln w="12700">
            <a:solidFill>
              <a:srgbClr val="EAECEF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2130552"/>
            <a:ext cx="265176" cy="26517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48640" y="19842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صوت رقمي مشفّر بجودة ثابتة وتجوال دولي عبر بطاقة SIM</a:t>
            </a:r>
            <a:endParaRPr lang="ar-SA" sz="1250" dirty="0"/>
          </a:p>
        </p:txBody>
      </p:sp>
      <p:sp>
        <p:nvSpPr>
          <p:cNvPr id="26" name="Shape 23"/>
          <p:cNvSpPr/>
          <p:nvPr/>
        </p:nvSpPr>
        <p:spPr>
          <a:xfrm>
            <a:off x="5715000" y="2670048"/>
            <a:ext cx="502920" cy="502920"/>
          </a:xfrm>
          <a:prstGeom prst="ellipse">
            <a:avLst/>
          </a:prstGeom>
          <a:solidFill>
            <a:srgbClr val="EAECEF"/>
          </a:solidFill>
          <a:ln w="12700">
            <a:solidFill>
              <a:srgbClr val="EAECEF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788920"/>
            <a:ext cx="265176" cy="26517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48640" y="264261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الرسائل النصية القصيرة SMS — أول خدمة بيانات جماهيرية</a:t>
            </a:r>
            <a:endParaRPr lang="ar-SA" sz="1250" dirty="0"/>
          </a:p>
        </p:txBody>
      </p:sp>
      <p:sp>
        <p:nvSpPr>
          <p:cNvPr id="29" name="Shape 25"/>
          <p:cNvSpPr/>
          <p:nvPr/>
        </p:nvSpPr>
        <p:spPr>
          <a:xfrm>
            <a:off x="5715000" y="3328416"/>
            <a:ext cx="502920" cy="502920"/>
          </a:xfrm>
          <a:prstGeom prst="ellipse">
            <a:avLst/>
          </a:prstGeom>
          <a:solidFill>
            <a:srgbClr val="EAECEF"/>
          </a:solidFill>
          <a:ln w="12700">
            <a:solidFill>
              <a:srgbClr val="EAECEF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3447288"/>
            <a:ext cx="265176" cy="26517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48640" y="330098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اتصال بالإنترنت عبر الجوال (WAP) مع GPRS</a:t>
            </a:r>
            <a:endParaRPr lang="ar-SA" sz="1250" dirty="0"/>
          </a:p>
        </p:txBody>
      </p:sp>
      <p:sp>
        <p:nvSpPr>
          <p:cNvPr id="32" name="Shape 27"/>
          <p:cNvSpPr/>
          <p:nvPr/>
        </p:nvSpPr>
        <p:spPr>
          <a:xfrm>
            <a:off x="5715000" y="3986784"/>
            <a:ext cx="502920" cy="502920"/>
          </a:xfrm>
          <a:prstGeom prst="ellipse">
            <a:avLst/>
          </a:prstGeom>
          <a:solidFill>
            <a:srgbClr val="EAECEF"/>
          </a:solidFill>
          <a:ln w="12700">
            <a:solidFill>
              <a:srgbClr val="EAECE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4105656"/>
            <a:ext cx="265176" cy="26517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48640" y="395935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عالمي: أكثر من 80% من اشتراكات العالم في ذروته</a:t>
            </a:r>
            <a:endParaRPr lang="ar-SA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489204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 الرئيسية</a:t>
            </a:r>
            <a:endParaRPr lang="ar-SA" sz="1250" dirty="0"/>
          </a:p>
        </p:txBody>
      </p:sp>
      <p:sp>
        <p:nvSpPr>
          <p:cNvPr id="36" name="Shape 30"/>
          <p:cNvSpPr/>
          <p:nvPr/>
        </p:nvSpPr>
        <p:spPr>
          <a:xfrm>
            <a:off x="10511028" y="5212080"/>
            <a:ext cx="1129284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0511028" y="5212080"/>
            <a:ext cx="11292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TDMA / FDMA</a:t>
            </a:r>
            <a:endParaRPr lang="ar-SA" sz="1000" dirty="0"/>
          </a:p>
        </p:txBody>
      </p:sp>
      <p:sp>
        <p:nvSpPr>
          <p:cNvPr id="38" name="Shape 32"/>
          <p:cNvSpPr/>
          <p:nvPr/>
        </p:nvSpPr>
        <p:spPr>
          <a:xfrm>
            <a:off x="9605772" y="521208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9605772" y="52120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GMSK</a:t>
            </a:r>
            <a:endParaRPr lang="ar-SA" sz="1000" dirty="0"/>
          </a:p>
        </p:txBody>
      </p:sp>
      <p:sp>
        <p:nvSpPr>
          <p:cNvPr id="40" name="Shape 34"/>
          <p:cNvSpPr/>
          <p:nvPr/>
        </p:nvSpPr>
        <p:spPr>
          <a:xfrm>
            <a:off x="8037576" y="5212080"/>
            <a:ext cx="1440180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8037576" y="5212080"/>
            <a:ext cx="1440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/ BSC / BTS</a:t>
            </a:r>
            <a:endParaRPr lang="ar-SA" sz="1000" dirty="0"/>
          </a:p>
        </p:txBody>
      </p:sp>
      <p:sp>
        <p:nvSpPr>
          <p:cNvPr id="42" name="Shape 36"/>
          <p:cNvSpPr/>
          <p:nvPr/>
        </p:nvSpPr>
        <p:spPr>
          <a:xfrm>
            <a:off x="7132320" y="521208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7132320" y="52120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ar-SA" sz="1000" dirty="0"/>
          </a:p>
        </p:txBody>
      </p:sp>
      <p:sp>
        <p:nvSpPr>
          <p:cNvPr id="44" name="Shape 38"/>
          <p:cNvSpPr/>
          <p:nvPr/>
        </p:nvSpPr>
        <p:spPr>
          <a:xfrm>
            <a:off x="6227064" y="521208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6227064" y="52120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GPRS</a:t>
            </a:r>
            <a:endParaRPr lang="ar-SA" sz="1000" dirty="0"/>
          </a:p>
        </p:txBody>
      </p:sp>
      <p:sp>
        <p:nvSpPr>
          <p:cNvPr id="46" name="Shape 40"/>
          <p:cNvSpPr/>
          <p:nvPr/>
        </p:nvSpPr>
        <p:spPr>
          <a:xfrm>
            <a:off x="5321808" y="521208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5321808" y="52120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ar-SA" sz="1000" dirty="0"/>
          </a:p>
        </p:txBody>
      </p:sp>
      <p:sp>
        <p:nvSpPr>
          <p:cNvPr id="48" name="Shape 42"/>
          <p:cNvSpPr/>
          <p:nvPr/>
        </p:nvSpPr>
        <p:spPr>
          <a:xfrm>
            <a:off x="548640" y="5715000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777240" y="5715000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تنفيذية: 2G وضع أسس التشغيل البيني العالمي والتجوال، ويجري إيقافه تدريجياً في معظم الأسواق لإعادة استخدام طيفه الثمين.</a:t>
            </a:r>
            <a:endParaRPr lang="ar-SA" sz="1250" dirty="0"/>
          </a:p>
        </p:txBody>
      </p:sp>
      <p:sp>
        <p:nvSpPr>
          <p:cNvPr id="50" name="Text 4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320040"/>
            <a:ext cx="987552" cy="987552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652760" y="32004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3G</a:t>
            </a:r>
            <a:endParaRPr lang="ar-SA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921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الجيل الثالث (3G): UMTS — الإنترنت المتنقل</a:t>
            </a:r>
            <a:endParaRPr lang="ar-SA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الإطلاق التجاري الأول: اليابان 2001 | المعيار: UMTS / WCDMA ثم HSPA (3.5G) و HSPA+</a:t>
            </a:r>
            <a:endParaRPr lang="ar-SA" sz="1200" dirty="0"/>
          </a:p>
        </p:txBody>
      </p:sp>
      <p:sp>
        <p:nvSpPr>
          <p:cNvPr id="6" name="Shape 4"/>
          <p:cNvSpPr/>
          <p:nvPr/>
        </p:nvSpPr>
        <p:spPr>
          <a:xfrm>
            <a:off x="9034272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98864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سرعة نقل البيانات</a:t>
            </a:r>
            <a:endParaRPr lang="ar-SA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98864" y="18928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 kbps</a:t>
            </a:r>
            <a:endParaRPr lang="ar-SA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198864" y="237744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HSPA حتى ‪14.4 Mbps‬ | HSPA+ حتى ‪42 Mbps‬ (‪84 Mbps‬ مع DC)</a:t>
            </a:r>
            <a:endParaRPr lang="ar-SA" sz="950" dirty="0"/>
          </a:p>
        </p:txBody>
      </p:sp>
      <p:sp>
        <p:nvSpPr>
          <p:cNvPr id="10" name="Shape 8"/>
          <p:cNvSpPr/>
          <p:nvPr/>
        </p:nvSpPr>
        <p:spPr>
          <a:xfrm>
            <a:off x="6245352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المستخدمون</a:t>
            </a:r>
            <a:endParaRPr lang="ar-SA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18928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100–200</a:t>
            </a:r>
            <a:endParaRPr lang="ar-SA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37744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مستخدم صوتي متزامن لكل حامل ‪5 MHz‬ | زمن استجابة ‪100–200 ms‬</a:t>
            </a:r>
            <a:endParaRPr lang="ar-SA" sz="950" dirty="0"/>
          </a:p>
        </p:txBody>
      </p:sp>
      <p:sp>
        <p:nvSpPr>
          <p:cNvPr id="14" name="Shape 12"/>
          <p:cNvSpPr/>
          <p:nvPr/>
        </p:nvSpPr>
        <p:spPr>
          <a:xfrm>
            <a:off x="9034272" y="3172968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98864" y="32826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التردد</a:t>
            </a:r>
            <a:endParaRPr lang="ar-SA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98864" y="35570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2100 MHz</a:t>
            </a:r>
            <a:endParaRPr lang="ar-SA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9198864" y="40416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النطاق الرئيسي (Band I) | إضافة ‪900 / 850 / 1900 MHz‬</a:t>
            </a:r>
            <a:endParaRPr lang="ar-SA" sz="950" dirty="0"/>
          </a:p>
        </p:txBody>
      </p:sp>
      <p:sp>
        <p:nvSpPr>
          <p:cNvPr id="18" name="Shape 16"/>
          <p:cNvSpPr/>
          <p:nvPr/>
        </p:nvSpPr>
        <p:spPr>
          <a:xfrm>
            <a:off x="6245352" y="3172968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9944" y="32826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القناة</a:t>
            </a:r>
            <a:endParaRPr lang="ar-SA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35570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MHz</a:t>
            </a:r>
            <a:endParaRPr lang="ar-SA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40416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WCDMA بالطيف المنتشر | تبديل الدوائر والحزم معاً</a:t>
            </a:r>
            <a:endParaRPr lang="ar-SA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1508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أتاح هذا الجيل؟</a:t>
            </a:r>
            <a:endParaRPr lang="ar-SA" sz="1700" dirty="0"/>
          </a:p>
        </p:txBody>
      </p:sp>
      <p:sp>
        <p:nvSpPr>
          <p:cNvPr id="23" name="Shape 21"/>
          <p:cNvSpPr/>
          <p:nvPr/>
        </p:nvSpPr>
        <p:spPr>
          <a:xfrm>
            <a:off x="5715000" y="2011680"/>
            <a:ext cx="502920" cy="502920"/>
          </a:xfrm>
          <a:prstGeom prst="ellipse">
            <a:avLst/>
          </a:prstGeom>
          <a:solidFill>
            <a:srgbClr val="DCE7F1"/>
          </a:solidFill>
          <a:ln w="12700">
            <a:solidFill>
              <a:srgbClr val="DCE7F1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2130552"/>
            <a:ext cx="265176" cy="26517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48640" y="19842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مكالمات الفيديو وتصفح الإنترنت الفعلي على الجوال</a:t>
            </a:r>
            <a:endParaRPr lang="ar-SA" sz="1250" dirty="0"/>
          </a:p>
        </p:txBody>
      </p:sp>
      <p:sp>
        <p:nvSpPr>
          <p:cNvPr id="26" name="Shape 23"/>
          <p:cNvSpPr/>
          <p:nvPr/>
        </p:nvSpPr>
        <p:spPr>
          <a:xfrm>
            <a:off x="5715000" y="2670048"/>
            <a:ext cx="502920" cy="502920"/>
          </a:xfrm>
          <a:prstGeom prst="ellipse">
            <a:avLst/>
          </a:prstGeom>
          <a:solidFill>
            <a:srgbClr val="DCE7F1"/>
          </a:solidFill>
          <a:ln w="12700">
            <a:solidFill>
              <a:srgbClr val="DCE7F1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788920"/>
            <a:ext cx="265176" cy="26517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48640" y="264261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ولادة الهواتف الذكية ومتاجر التطبيقات (2007–2008)</a:t>
            </a:r>
            <a:endParaRPr lang="ar-SA" sz="1250" dirty="0"/>
          </a:p>
        </p:txBody>
      </p:sp>
      <p:sp>
        <p:nvSpPr>
          <p:cNvPr id="29" name="Shape 25"/>
          <p:cNvSpPr/>
          <p:nvPr/>
        </p:nvSpPr>
        <p:spPr>
          <a:xfrm>
            <a:off x="5715000" y="3328416"/>
            <a:ext cx="502920" cy="502920"/>
          </a:xfrm>
          <a:prstGeom prst="ellipse">
            <a:avLst/>
          </a:prstGeom>
          <a:solidFill>
            <a:srgbClr val="DCE7F1"/>
          </a:solidFill>
          <a:ln w="12700">
            <a:solidFill>
              <a:srgbClr val="DCE7F1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3447288"/>
            <a:ext cx="265176" cy="26517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48640" y="330098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 الموقع والخرائط والبث الصوتي</a:t>
            </a:r>
            <a:endParaRPr lang="ar-SA" sz="1250" dirty="0"/>
          </a:p>
        </p:txBody>
      </p:sp>
      <p:sp>
        <p:nvSpPr>
          <p:cNvPr id="32" name="Shape 27"/>
          <p:cNvSpPr/>
          <p:nvPr/>
        </p:nvSpPr>
        <p:spPr>
          <a:xfrm>
            <a:off x="5715000" y="3986784"/>
            <a:ext cx="502920" cy="502920"/>
          </a:xfrm>
          <a:prstGeom prst="ellipse">
            <a:avLst/>
          </a:prstGeom>
          <a:solidFill>
            <a:srgbClr val="DCE7F1"/>
          </a:solidFill>
          <a:ln w="12700">
            <a:solidFill>
              <a:srgbClr val="DCE7F1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4105656"/>
            <a:ext cx="265176" cy="26517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48640" y="395935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 الإلكتروني المتنقل والوسائط المتعددة MMS</a:t>
            </a:r>
            <a:endParaRPr lang="ar-SA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489204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 الرئيسية</a:t>
            </a:r>
            <a:endParaRPr lang="ar-SA" sz="1250" dirty="0"/>
          </a:p>
        </p:txBody>
      </p:sp>
      <p:sp>
        <p:nvSpPr>
          <p:cNvPr id="36" name="Shape 30"/>
          <p:cNvSpPr/>
          <p:nvPr/>
        </p:nvSpPr>
        <p:spPr>
          <a:xfrm>
            <a:off x="10433304" y="5212080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E2EBF3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0433304" y="52120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WCDMA / CDMA</a:t>
            </a:r>
            <a:endParaRPr lang="ar-SA" sz="1000" dirty="0"/>
          </a:p>
        </p:txBody>
      </p:sp>
      <p:sp>
        <p:nvSpPr>
          <p:cNvPr id="38" name="Shape 32"/>
          <p:cNvSpPr/>
          <p:nvPr/>
        </p:nvSpPr>
        <p:spPr>
          <a:xfrm>
            <a:off x="9020556" y="5212080"/>
            <a:ext cx="1284732" cy="329184"/>
          </a:xfrm>
          <a:prstGeom prst="roundRect">
            <a:avLst>
              <a:gd name="adj" fmla="val 50000"/>
            </a:avLst>
          </a:prstGeom>
          <a:solidFill>
            <a:srgbClr val="E2EBF3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9020556" y="5212080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HSDPA / HSUPA</a:t>
            </a:r>
            <a:endParaRPr lang="ar-SA" sz="1000" dirty="0"/>
          </a:p>
        </p:txBody>
      </p:sp>
      <p:sp>
        <p:nvSpPr>
          <p:cNvPr id="40" name="Shape 34"/>
          <p:cNvSpPr/>
          <p:nvPr/>
        </p:nvSpPr>
        <p:spPr>
          <a:xfrm>
            <a:off x="7763256" y="5212080"/>
            <a:ext cx="1129284" cy="329184"/>
          </a:xfrm>
          <a:prstGeom prst="roundRect">
            <a:avLst>
              <a:gd name="adj" fmla="val 50000"/>
            </a:avLst>
          </a:prstGeom>
          <a:solidFill>
            <a:srgbClr val="E2EBF3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763256" y="5212080"/>
            <a:ext cx="11292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NodeB / RNC</a:t>
            </a:r>
            <a:endParaRPr lang="ar-SA" sz="1000" dirty="0"/>
          </a:p>
        </p:txBody>
      </p:sp>
      <p:sp>
        <p:nvSpPr>
          <p:cNvPr id="42" name="Shape 36"/>
          <p:cNvSpPr/>
          <p:nvPr/>
        </p:nvSpPr>
        <p:spPr>
          <a:xfrm>
            <a:off x="6505956" y="5212080"/>
            <a:ext cx="1129284" cy="329184"/>
          </a:xfrm>
          <a:prstGeom prst="roundRect">
            <a:avLst>
              <a:gd name="adj" fmla="val 50000"/>
            </a:avLst>
          </a:prstGeom>
          <a:solidFill>
            <a:srgbClr val="E2EBF3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505956" y="5212080"/>
            <a:ext cx="11292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SGSN / GGSN</a:t>
            </a:r>
            <a:endParaRPr lang="ar-SA" sz="1000" dirty="0"/>
          </a:p>
        </p:txBody>
      </p:sp>
      <p:sp>
        <p:nvSpPr>
          <p:cNvPr id="44" name="Shape 38"/>
          <p:cNvSpPr/>
          <p:nvPr/>
        </p:nvSpPr>
        <p:spPr>
          <a:xfrm>
            <a:off x="5600700" y="521208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2EBF3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5600700" y="52120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64-QAM</a:t>
            </a:r>
            <a:endParaRPr lang="ar-SA" sz="1000" dirty="0"/>
          </a:p>
        </p:txBody>
      </p:sp>
      <p:sp>
        <p:nvSpPr>
          <p:cNvPr id="46" name="Shape 40"/>
          <p:cNvSpPr/>
          <p:nvPr/>
        </p:nvSpPr>
        <p:spPr>
          <a:xfrm>
            <a:off x="4576572" y="5212080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E2EBF3"/>
          </a:solidFill>
          <a:ln w="12700">
            <a:solidFill>
              <a:srgbClr val="E2EBF3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4576572" y="521208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2x2</a:t>
            </a:r>
            <a:endParaRPr lang="ar-SA" sz="1000" dirty="0"/>
          </a:p>
        </p:txBody>
      </p:sp>
      <p:sp>
        <p:nvSpPr>
          <p:cNvPr id="48" name="Shape 42"/>
          <p:cNvSpPr/>
          <p:nvPr/>
        </p:nvSpPr>
        <p:spPr>
          <a:xfrm>
            <a:off x="548640" y="5715000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ECF2F7"/>
          </a:solidFill>
          <a:ln w="12700">
            <a:solidFill>
              <a:srgbClr val="ECF2F7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777240" y="5715000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تنفيذية: 3G حوّل الشبكة من صوت إلى بيانات، لكن كفاءته الطيفية المحدودة جعلته أول جيل يُطفأ قبل 2G في عدة أسواق.</a:t>
            </a:r>
            <a:endParaRPr lang="ar-SA" sz="1250" dirty="0"/>
          </a:p>
        </p:txBody>
      </p:sp>
      <p:sp>
        <p:nvSpPr>
          <p:cNvPr id="50" name="Text 4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SA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320040"/>
            <a:ext cx="987552" cy="987552"/>
          </a:xfrm>
          <a:prstGeom prst="ellipse">
            <a:avLst/>
          </a:prstGeom>
          <a:solidFill>
            <a:srgbClr val="1FB8A6"/>
          </a:solidFill>
          <a:ln w="12700">
            <a:solidFill>
              <a:srgbClr val="1F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652760" y="32004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</a:t>
            </a:r>
            <a:endParaRPr lang="ar-SA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921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الجيل الرابع (4G): LTE — عصر النطاق العريض المتنقل</a:t>
            </a:r>
            <a:endParaRPr lang="ar-SA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الإطلاق التجاري الأول: السويد والنرويج 2009 | المعيار: LTE (Rel-8) ثم LTE-Advanced و LTE-Advanced Pro</a:t>
            </a:r>
            <a:endParaRPr lang="ar-SA" sz="1200" dirty="0"/>
          </a:p>
        </p:txBody>
      </p:sp>
      <p:sp>
        <p:nvSpPr>
          <p:cNvPr id="6" name="Shape 4"/>
          <p:cNvSpPr/>
          <p:nvPr/>
        </p:nvSpPr>
        <p:spPr>
          <a:xfrm>
            <a:off x="9034272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98864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سرعة نقل البيانات</a:t>
            </a:r>
            <a:endParaRPr lang="ar-SA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98864" y="18928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1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Mbps</a:t>
            </a:r>
            <a:endParaRPr lang="ar-SA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198864" y="237744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LTE-A حتى ‪1 Gbps‬ | LTE-A Pro حتى ‪3 Gbps‬ | رفع ‪50–500 Mbps‬</a:t>
            </a:r>
            <a:endParaRPr lang="ar-SA" sz="950" dirty="0"/>
          </a:p>
        </p:txBody>
      </p:sp>
      <p:sp>
        <p:nvSpPr>
          <p:cNvPr id="10" name="Shape 8"/>
          <p:cNvSpPr/>
          <p:nvPr/>
        </p:nvSpPr>
        <p:spPr>
          <a:xfrm>
            <a:off x="6245352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كثافة المستخدمين</a:t>
            </a:r>
            <a:endParaRPr lang="ar-SA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18928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100 ألف / كم²</a:t>
            </a:r>
            <a:endParaRPr lang="ar-SA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37744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مئات المستخدمين النشطين لكل خلية | زمن استجابة ‪30–50 ms‬</a:t>
            </a:r>
            <a:endParaRPr lang="ar-SA" sz="950" dirty="0"/>
          </a:p>
        </p:txBody>
      </p:sp>
      <p:sp>
        <p:nvSpPr>
          <p:cNvPr id="14" name="Shape 12"/>
          <p:cNvSpPr/>
          <p:nvPr/>
        </p:nvSpPr>
        <p:spPr>
          <a:xfrm>
            <a:off x="9034272" y="3172968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98864" y="32826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التردد</a:t>
            </a:r>
            <a:endParaRPr lang="ar-SA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98864" y="35570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1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700–2600 MHz</a:t>
            </a:r>
            <a:endParaRPr lang="ar-SA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9198864" y="40416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نطاقات FDD/TDD متعددة + ‪3.5 GHz‬ (B42/43) | ‪450 MHz‬–‪5.9 GHz‬ إجمالاً</a:t>
            </a:r>
            <a:endParaRPr lang="ar-SA" sz="950" dirty="0"/>
          </a:p>
        </p:txBody>
      </p:sp>
      <p:sp>
        <p:nvSpPr>
          <p:cNvPr id="18" name="Shape 16"/>
          <p:cNvSpPr/>
          <p:nvPr/>
        </p:nvSpPr>
        <p:spPr>
          <a:xfrm>
            <a:off x="6245352" y="3172968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9944" y="32826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القناة</a:t>
            </a:r>
            <a:endParaRPr lang="ar-SA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35570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1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1.4–20 MHz</a:t>
            </a:r>
            <a:endParaRPr lang="ar-SA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40416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تجميع الحوامل (CA) حتى ‪100 MHz‬ | شبكة IP بالكامل</a:t>
            </a:r>
            <a:endParaRPr lang="ar-SA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1508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أتاح هذا الجيل؟</a:t>
            </a:r>
            <a:endParaRPr lang="ar-SA" sz="1700" dirty="0"/>
          </a:p>
        </p:txBody>
      </p:sp>
      <p:sp>
        <p:nvSpPr>
          <p:cNvPr id="23" name="Shape 21"/>
          <p:cNvSpPr/>
          <p:nvPr/>
        </p:nvSpPr>
        <p:spPr>
          <a:xfrm>
            <a:off x="5715000" y="2011680"/>
            <a:ext cx="502920" cy="502920"/>
          </a:xfrm>
          <a:prstGeom prst="ellipse">
            <a:avLst/>
          </a:prstGeom>
          <a:solidFill>
            <a:srgbClr val="D7F2EF"/>
          </a:solidFill>
          <a:ln w="12700">
            <a:solidFill>
              <a:srgbClr val="D7F2EF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2130552"/>
            <a:ext cx="265176" cy="26517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48640" y="19842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بث الفيديو عالي الدقة والتطبيقات السحابية على الجوال</a:t>
            </a:r>
            <a:endParaRPr lang="ar-SA" sz="1250" dirty="0"/>
          </a:p>
        </p:txBody>
      </p:sp>
      <p:sp>
        <p:nvSpPr>
          <p:cNvPr id="26" name="Shape 23"/>
          <p:cNvSpPr/>
          <p:nvPr/>
        </p:nvSpPr>
        <p:spPr>
          <a:xfrm>
            <a:off x="5715000" y="2670048"/>
            <a:ext cx="502920" cy="502920"/>
          </a:xfrm>
          <a:prstGeom prst="ellipse">
            <a:avLst/>
          </a:prstGeom>
          <a:solidFill>
            <a:srgbClr val="D7F2EF"/>
          </a:solidFill>
          <a:ln w="12700">
            <a:solidFill>
              <a:srgbClr val="D7F2EF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788920"/>
            <a:ext cx="265176" cy="26517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48640" y="264261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اقتصاد التطبيقات: النقل الذكي والتوصيل والمدفوعات</a:t>
            </a:r>
            <a:endParaRPr lang="ar-SA" sz="1250" dirty="0"/>
          </a:p>
        </p:txBody>
      </p:sp>
      <p:sp>
        <p:nvSpPr>
          <p:cNvPr id="29" name="Shape 25"/>
          <p:cNvSpPr/>
          <p:nvPr/>
        </p:nvSpPr>
        <p:spPr>
          <a:xfrm>
            <a:off x="5715000" y="3328416"/>
            <a:ext cx="502920" cy="502920"/>
          </a:xfrm>
          <a:prstGeom prst="ellipse">
            <a:avLst/>
          </a:prstGeom>
          <a:solidFill>
            <a:srgbClr val="D7F2EF"/>
          </a:solidFill>
          <a:ln w="12700">
            <a:solidFill>
              <a:srgbClr val="D7F2EF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3447288"/>
            <a:ext cx="265176" cy="26517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48640" y="330098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الصوت عبر LTE (VoLTE) بجودة HD وشبكة IP موحدة</a:t>
            </a:r>
            <a:endParaRPr lang="ar-SA" sz="1250" dirty="0"/>
          </a:p>
        </p:txBody>
      </p:sp>
      <p:sp>
        <p:nvSpPr>
          <p:cNvPr id="32" name="Shape 27"/>
          <p:cNvSpPr/>
          <p:nvPr/>
        </p:nvSpPr>
        <p:spPr>
          <a:xfrm>
            <a:off x="5715000" y="3986784"/>
            <a:ext cx="502920" cy="502920"/>
          </a:xfrm>
          <a:prstGeom prst="ellipse">
            <a:avLst/>
          </a:prstGeom>
          <a:solidFill>
            <a:srgbClr val="D7F2EF"/>
          </a:solidFill>
          <a:ln w="12700">
            <a:solidFill>
              <a:srgbClr val="D7F2E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4105656"/>
            <a:ext cx="265176" cy="26517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48640" y="395935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 منخفض الطاقة: NB-IoT و LTE-M</a:t>
            </a:r>
            <a:endParaRPr lang="ar-SA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489204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 الرئيسية</a:t>
            </a:r>
            <a:endParaRPr lang="ar-SA" sz="1250" dirty="0"/>
          </a:p>
        </p:txBody>
      </p:sp>
      <p:sp>
        <p:nvSpPr>
          <p:cNvPr id="36" name="Shape 30"/>
          <p:cNvSpPr/>
          <p:nvPr/>
        </p:nvSpPr>
        <p:spPr>
          <a:xfrm>
            <a:off x="10200132" y="5212080"/>
            <a:ext cx="1440180" cy="329184"/>
          </a:xfrm>
          <a:prstGeom prst="roundRect">
            <a:avLst>
              <a:gd name="adj" fmla="val 50000"/>
            </a:avLst>
          </a:prstGeom>
          <a:solidFill>
            <a:srgbClr val="DDF4F2"/>
          </a:solidFill>
          <a:ln w="12700">
            <a:solidFill>
              <a:srgbClr val="DDF4F2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0200132" y="5212080"/>
            <a:ext cx="1440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1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OFDMA / SC-FDMA</a:t>
            </a:r>
            <a:endParaRPr lang="ar-SA" sz="1000" dirty="0"/>
          </a:p>
        </p:txBody>
      </p:sp>
      <p:sp>
        <p:nvSpPr>
          <p:cNvPr id="38" name="Shape 32"/>
          <p:cNvSpPr/>
          <p:nvPr/>
        </p:nvSpPr>
        <p:spPr>
          <a:xfrm>
            <a:off x="8709660" y="5212080"/>
            <a:ext cx="1362456" cy="329184"/>
          </a:xfrm>
          <a:prstGeom prst="roundRect">
            <a:avLst>
              <a:gd name="adj" fmla="val 50000"/>
            </a:avLst>
          </a:prstGeom>
          <a:solidFill>
            <a:srgbClr val="DDF4F2"/>
          </a:solidFill>
          <a:ln w="12700">
            <a:solidFill>
              <a:srgbClr val="DDF4F2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8709660" y="5212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1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4x4 / 8x8</a:t>
            </a:r>
            <a:endParaRPr lang="ar-SA" sz="1000" dirty="0"/>
          </a:p>
        </p:txBody>
      </p:sp>
      <p:sp>
        <p:nvSpPr>
          <p:cNvPr id="40" name="Shape 34"/>
          <p:cNvSpPr/>
          <p:nvPr/>
        </p:nvSpPr>
        <p:spPr>
          <a:xfrm>
            <a:off x="7804404" y="521208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DDF4F2"/>
          </a:solidFill>
          <a:ln w="12700">
            <a:solidFill>
              <a:srgbClr val="DDF4F2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804404" y="52120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1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eNodeB</a:t>
            </a:r>
            <a:endParaRPr lang="ar-SA" sz="1000" dirty="0"/>
          </a:p>
        </p:txBody>
      </p:sp>
      <p:sp>
        <p:nvSpPr>
          <p:cNvPr id="42" name="Shape 36"/>
          <p:cNvSpPr/>
          <p:nvPr/>
        </p:nvSpPr>
        <p:spPr>
          <a:xfrm>
            <a:off x="6391656" y="5212080"/>
            <a:ext cx="1284732" cy="329184"/>
          </a:xfrm>
          <a:prstGeom prst="roundRect">
            <a:avLst>
              <a:gd name="adj" fmla="val 50000"/>
            </a:avLst>
          </a:prstGeom>
          <a:solidFill>
            <a:srgbClr val="DDF4F2"/>
          </a:solidFill>
          <a:ln w="12700">
            <a:solidFill>
              <a:srgbClr val="DDF4F2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391656" y="5212080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1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(نواة IP)</a:t>
            </a:r>
            <a:endParaRPr lang="ar-SA" sz="1000" dirty="0"/>
          </a:p>
        </p:txBody>
      </p:sp>
      <p:sp>
        <p:nvSpPr>
          <p:cNvPr id="44" name="Shape 38"/>
          <p:cNvSpPr/>
          <p:nvPr/>
        </p:nvSpPr>
        <p:spPr>
          <a:xfrm>
            <a:off x="5445252" y="5212080"/>
            <a:ext cx="818388" cy="329184"/>
          </a:xfrm>
          <a:prstGeom prst="roundRect">
            <a:avLst>
              <a:gd name="adj" fmla="val 50000"/>
            </a:avLst>
          </a:prstGeom>
          <a:solidFill>
            <a:srgbClr val="DDF4F2"/>
          </a:solidFill>
          <a:ln w="12700">
            <a:solidFill>
              <a:srgbClr val="DDF4F2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5445252" y="5212080"/>
            <a:ext cx="8183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1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256-QAM</a:t>
            </a:r>
            <a:endParaRPr lang="ar-SA" sz="1000" dirty="0"/>
          </a:p>
        </p:txBody>
      </p:sp>
      <p:sp>
        <p:nvSpPr>
          <p:cNvPr id="46" name="Shape 40"/>
          <p:cNvSpPr/>
          <p:nvPr/>
        </p:nvSpPr>
        <p:spPr>
          <a:xfrm>
            <a:off x="3566160" y="5212080"/>
            <a:ext cx="1751076" cy="329184"/>
          </a:xfrm>
          <a:prstGeom prst="roundRect">
            <a:avLst>
              <a:gd name="adj" fmla="val 50000"/>
            </a:avLst>
          </a:prstGeom>
          <a:solidFill>
            <a:srgbClr val="DDF4F2"/>
          </a:solidFill>
          <a:ln w="12700">
            <a:solidFill>
              <a:srgbClr val="DDF4F2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3566160" y="5212080"/>
            <a:ext cx="1751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1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Aggregation</a:t>
            </a:r>
            <a:endParaRPr lang="ar-SA" sz="1000" dirty="0"/>
          </a:p>
        </p:txBody>
      </p:sp>
      <p:sp>
        <p:nvSpPr>
          <p:cNvPr id="48" name="Shape 42"/>
          <p:cNvSpPr/>
          <p:nvPr/>
        </p:nvSpPr>
        <p:spPr>
          <a:xfrm>
            <a:off x="548640" y="5715000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E9F8F6"/>
          </a:solidFill>
          <a:ln w="12700">
            <a:solidFill>
              <a:srgbClr val="E9F8F6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777240" y="5715000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تنفيذية: 4G هو العمود الفقري الحالي للإيرادات عالمياً، وسيستمر لعقد آخر على الأقل كطبقة تغطية أساسية جنباً إلى جنب مع 5G.</a:t>
            </a:r>
            <a:endParaRPr lang="ar-SA" sz="1250" dirty="0"/>
          </a:p>
        </p:txBody>
      </p:sp>
      <p:sp>
        <p:nvSpPr>
          <p:cNvPr id="50" name="Text 4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SA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320040"/>
            <a:ext cx="987552" cy="987552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652760" y="32004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</a:t>
            </a:r>
            <a:endParaRPr lang="ar-SA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921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الجيل الخامس (5G): NR — منصة الصناعة والمجتمع الرقمي</a:t>
            </a:r>
            <a:endParaRPr lang="ar-SA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الإطلاق التجاري: كوريا الجنوبية والولايات المتحدة 2019 | المعيار: 5G NR (Rel-15/16/17) | متطلبات ITU IMT-2020</a:t>
            </a:r>
            <a:endParaRPr lang="ar-SA" sz="1200" dirty="0"/>
          </a:p>
        </p:txBody>
      </p:sp>
      <p:sp>
        <p:nvSpPr>
          <p:cNvPr id="6" name="Shape 4"/>
          <p:cNvSpPr/>
          <p:nvPr/>
        </p:nvSpPr>
        <p:spPr>
          <a:xfrm>
            <a:off x="9034272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98864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سرعة نقل البيانات</a:t>
            </a:r>
            <a:endParaRPr lang="ar-SA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98864" y="18928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Gbps</a:t>
            </a:r>
            <a:endParaRPr lang="ar-SA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198864" y="237744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ذروة التنزيل | ‪10 Gbps‬ رفع | ‪100 Mbps‬ سرعة مضمونة للمستخدم</a:t>
            </a:r>
            <a:endParaRPr lang="ar-SA" sz="950" dirty="0"/>
          </a:p>
        </p:txBody>
      </p:sp>
      <p:sp>
        <p:nvSpPr>
          <p:cNvPr id="10" name="Shape 8"/>
          <p:cNvSpPr/>
          <p:nvPr/>
        </p:nvSpPr>
        <p:spPr>
          <a:xfrm>
            <a:off x="6245352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كثافة المستخدمين</a:t>
            </a:r>
            <a:endParaRPr lang="ar-SA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18928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مليون / كم²</a:t>
            </a:r>
            <a:endParaRPr lang="ar-SA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37744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زمن استجابة ‪1 ms‬ (URLLC) | حركية حتى 500 كم/س</a:t>
            </a:r>
            <a:endParaRPr lang="ar-SA" sz="950" dirty="0"/>
          </a:p>
        </p:txBody>
      </p:sp>
      <p:sp>
        <p:nvSpPr>
          <p:cNvPr id="14" name="Shape 12"/>
          <p:cNvSpPr/>
          <p:nvPr/>
        </p:nvSpPr>
        <p:spPr>
          <a:xfrm>
            <a:off x="9034272" y="3172968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98864" y="32826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التردد</a:t>
            </a:r>
            <a:endParaRPr lang="ar-SA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98864" y="35570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FR1 + FR2</a:t>
            </a:r>
            <a:endParaRPr lang="ar-SA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9198864" y="40416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FR1: 410 MHz–7.125 GHz (n78: 3.5 GHz) | FR2: 24.25–71 GHz</a:t>
            </a:r>
            <a:endParaRPr lang="ar-SA" sz="950" dirty="0"/>
          </a:p>
        </p:txBody>
      </p:sp>
      <p:sp>
        <p:nvSpPr>
          <p:cNvPr id="18" name="Shape 16"/>
          <p:cNvSpPr/>
          <p:nvPr/>
        </p:nvSpPr>
        <p:spPr>
          <a:xfrm>
            <a:off x="6245352" y="3172968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9944" y="32826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القناة</a:t>
            </a:r>
            <a:endParaRPr lang="ar-SA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35570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/ 400 MHz</a:t>
            </a:r>
            <a:endParaRPr lang="ar-SA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40416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‪100 MHz‬ لكل حامل في FR1 | ‪400 MHz‬ في الموجات المليمترية</a:t>
            </a:r>
            <a:endParaRPr lang="ar-SA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1508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أتاح هذا الجيل؟</a:t>
            </a:r>
            <a:endParaRPr lang="ar-SA" sz="1700" dirty="0"/>
          </a:p>
        </p:txBody>
      </p:sp>
      <p:sp>
        <p:nvSpPr>
          <p:cNvPr id="23" name="Shape 21"/>
          <p:cNvSpPr/>
          <p:nvPr/>
        </p:nvSpPr>
        <p:spPr>
          <a:xfrm>
            <a:off x="5715000" y="2011680"/>
            <a:ext cx="502920" cy="502920"/>
          </a:xfrm>
          <a:prstGeom prst="ellipse">
            <a:avLst/>
          </a:prstGeom>
          <a:solidFill>
            <a:srgbClr val="D1EEF9"/>
          </a:solidFill>
          <a:ln w="12700">
            <a:solidFill>
              <a:srgbClr val="D1EEF9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2130552"/>
            <a:ext cx="265176" cy="26517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48640" y="19842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المصانع الذكية والشبكات الخاصة والأتمتة الصناعية</a:t>
            </a:r>
            <a:endParaRPr lang="ar-SA" sz="1250" dirty="0"/>
          </a:p>
        </p:txBody>
      </p:sp>
      <p:sp>
        <p:nvSpPr>
          <p:cNvPr id="26" name="Shape 23"/>
          <p:cNvSpPr/>
          <p:nvPr/>
        </p:nvSpPr>
        <p:spPr>
          <a:xfrm>
            <a:off x="5715000" y="2670048"/>
            <a:ext cx="502920" cy="502920"/>
          </a:xfrm>
          <a:prstGeom prst="ellipse">
            <a:avLst/>
          </a:prstGeom>
          <a:solidFill>
            <a:srgbClr val="D1EEF9"/>
          </a:solidFill>
          <a:ln w="12700">
            <a:solidFill>
              <a:srgbClr val="D1EEF9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788920"/>
            <a:ext cx="265176" cy="26517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48640" y="264261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النطاق العريض الثابت اللاسلكي (FWA) كبديل للألياف</a:t>
            </a:r>
            <a:endParaRPr lang="ar-SA" sz="1250" dirty="0"/>
          </a:p>
        </p:txBody>
      </p:sp>
      <p:sp>
        <p:nvSpPr>
          <p:cNvPr id="29" name="Shape 25"/>
          <p:cNvSpPr/>
          <p:nvPr/>
        </p:nvSpPr>
        <p:spPr>
          <a:xfrm>
            <a:off x="5715000" y="3328416"/>
            <a:ext cx="502920" cy="502920"/>
          </a:xfrm>
          <a:prstGeom prst="ellipse">
            <a:avLst/>
          </a:prstGeom>
          <a:solidFill>
            <a:srgbClr val="D1EEF9"/>
          </a:solidFill>
          <a:ln w="12700">
            <a:solidFill>
              <a:srgbClr val="D1EEF9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3447288"/>
            <a:ext cx="265176" cy="26517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48640" y="330098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الرعاية الصحية عن بُعد والمركبات المتصلة (V2X)</a:t>
            </a:r>
            <a:endParaRPr lang="ar-SA" sz="1250" dirty="0"/>
          </a:p>
        </p:txBody>
      </p:sp>
      <p:sp>
        <p:nvSpPr>
          <p:cNvPr id="32" name="Shape 27"/>
          <p:cNvSpPr/>
          <p:nvPr/>
        </p:nvSpPr>
        <p:spPr>
          <a:xfrm>
            <a:off x="5715000" y="3986784"/>
            <a:ext cx="502920" cy="502920"/>
          </a:xfrm>
          <a:prstGeom prst="ellipse">
            <a:avLst/>
          </a:prstGeom>
          <a:solidFill>
            <a:srgbClr val="D1EEF9"/>
          </a:solidFill>
          <a:ln w="12700">
            <a:solidFill>
              <a:srgbClr val="D1EEF9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4105656"/>
            <a:ext cx="265176" cy="26517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48640" y="395935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تقطيع الشبكة (Network Slicing) والحوسبة الطرفية MEC</a:t>
            </a:r>
            <a:endParaRPr lang="ar-SA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489204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 الرئيسية</a:t>
            </a:r>
            <a:endParaRPr lang="ar-SA" sz="1250" dirty="0"/>
          </a:p>
        </p:txBody>
      </p:sp>
      <p:sp>
        <p:nvSpPr>
          <p:cNvPr id="36" name="Shape 30"/>
          <p:cNvSpPr/>
          <p:nvPr/>
        </p:nvSpPr>
        <p:spPr>
          <a:xfrm>
            <a:off x="10821924" y="5212080"/>
            <a:ext cx="818388" cy="329184"/>
          </a:xfrm>
          <a:prstGeom prst="roundRect">
            <a:avLst>
              <a:gd name="adj" fmla="val 50000"/>
            </a:avLst>
          </a:prstGeom>
          <a:solidFill>
            <a:srgbClr val="D9F1FA"/>
          </a:solidFill>
          <a:ln w="12700">
            <a:solidFill>
              <a:srgbClr val="D9F1FA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0821924" y="5212080"/>
            <a:ext cx="8183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CP-OFDM</a:t>
            </a:r>
            <a:endParaRPr lang="ar-SA" sz="1000" dirty="0"/>
          </a:p>
        </p:txBody>
      </p:sp>
      <p:sp>
        <p:nvSpPr>
          <p:cNvPr id="38" name="Shape 32"/>
          <p:cNvSpPr/>
          <p:nvPr/>
        </p:nvSpPr>
        <p:spPr>
          <a:xfrm>
            <a:off x="8942832" y="5212080"/>
            <a:ext cx="1751076" cy="329184"/>
          </a:xfrm>
          <a:prstGeom prst="roundRect">
            <a:avLst>
              <a:gd name="adj" fmla="val 50000"/>
            </a:avLst>
          </a:prstGeom>
          <a:solidFill>
            <a:srgbClr val="D9F1FA"/>
          </a:solidFill>
          <a:ln w="12700">
            <a:solidFill>
              <a:srgbClr val="D9F1FA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8942832" y="5212080"/>
            <a:ext cx="1751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MIMO 64T64R</a:t>
            </a:r>
            <a:endParaRPr lang="ar-SA" sz="1000" dirty="0"/>
          </a:p>
        </p:txBody>
      </p:sp>
      <p:sp>
        <p:nvSpPr>
          <p:cNvPr id="40" name="Shape 34"/>
          <p:cNvSpPr/>
          <p:nvPr/>
        </p:nvSpPr>
        <p:spPr>
          <a:xfrm>
            <a:off x="7685532" y="5212080"/>
            <a:ext cx="1129284" cy="329184"/>
          </a:xfrm>
          <a:prstGeom prst="roundRect">
            <a:avLst>
              <a:gd name="adj" fmla="val 50000"/>
            </a:avLst>
          </a:prstGeom>
          <a:solidFill>
            <a:srgbClr val="D9F1FA"/>
          </a:solidFill>
          <a:ln w="12700">
            <a:solidFill>
              <a:srgbClr val="D9F1FA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685532" y="5212080"/>
            <a:ext cx="11292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Beamforming</a:t>
            </a:r>
            <a:endParaRPr lang="ar-SA" sz="1000" dirty="0"/>
          </a:p>
        </p:txBody>
      </p:sp>
      <p:sp>
        <p:nvSpPr>
          <p:cNvPr id="42" name="Shape 36"/>
          <p:cNvSpPr/>
          <p:nvPr/>
        </p:nvSpPr>
        <p:spPr>
          <a:xfrm>
            <a:off x="6780276" y="521208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D9F1FA"/>
          </a:solidFill>
          <a:ln w="12700">
            <a:solidFill>
              <a:srgbClr val="D9F1FA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780276" y="52120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gNodeB</a:t>
            </a:r>
            <a:endParaRPr lang="ar-SA" sz="1000" dirty="0"/>
          </a:p>
        </p:txBody>
      </p:sp>
      <p:sp>
        <p:nvSpPr>
          <p:cNvPr id="44" name="Shape 38"/>
          <p:cNvSpPr/>
          <p:nvPr/>
        </p:nvSpPr>
        <p:spPr>
          <a:xfrm>
            <a:off x="5678424" y="5212080"/>
            <a:ext cx="973836" cy="329184"/>
          </a:xfrm>
          <a:prstGeom prst="roundRect">
            <a:avLst>
              <a:gd name="adj" fmla="val 50000"/>
            </a:avLst>
          </a:prstGeom>
          <a:solidFill>
            <a:srgbClr val="D9F1FA"/>
          </a:solidFill>
          <a:ln w="12700">
            <a:solidFill>
              <a:srgbClr val="D9F1FA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5678424" y="5212080"/>
            <a:ext cx="973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5GC (SBA)</a:t>
            </a:r>
            <a:endParaRPr lang="ar-SA" sz="1000" dirty="0"/>
          </a:p>
        </p:txBody>
      </p:sp>
      <p:sp>
        <p:nvSpPr>
          <p:cNvPr id="46" name="Shape 40"/>
          <p:cNvSpPr/>
          <p:nvPr/>
        </p:nvSpPr>
        <p:spPr>
          <a:xfrm>
            <a:off x="4654296" y="5212080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9F1FA"/>
          </a:solidFill>
          <a:ln w="12700">
            <a:solidFill>
              <a:srgbClr val="D9F1FA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4654296" y="521208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/ NSA</a:t>
            </a:r>
            <a:endParaRPr lang="ar-SA" sz="1000" dirty="0"/>
          </a:p>
        </p:txBody>
      </p:sp>
      <p:sp>
        <p:nvSpPr>
          <p:cNvPr id="48" name="Shape 42"/>
          <p:cNvSpPr/>
          <p:nvPr/>
        </p:nvSpPr>
        <p:spPr>
          <a:xfrm>
            <a:off x="3086100" y="5212080"/>
            <a:ext cx="1440180" cy="329184"/>
          </a:xfrm>
          <a:prstGeom prst="roundRect">
            <a:avLst>
              <a:gd name="adj" fmla="val 50000"/>
            </a:avLst>
          </a:prstGeom>
          <a:solidFill>
            <a:srgbClr val="D9F1FA"/>
          </a:solidFill>
          <a:ln w="12700">
            <a:solidFill>
              <a:srgbClr val="D9F1FA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3086100" y="5212080"/>
            <a:ext cx="1440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Slicing</a:t>
            </a:r>
            <a:endParaRPr lang="ar-SA" sz="1000" dirty="0"/>
          </a:p>
        </p:txBody>
      </p:sp>
      <p:sp>
        <p:nvSpPr>
          <p:cNvPr id="50" name="Shape 44"/>
          <p:cNvSpPr/>
          <p:nvPr/>
        </p:nvSpPr>
        <p:spPr>
          <a:xfrm>
            <a:off x="548640" y="5715000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E6F6FC"/>
          </a:solidFill>
          <a:ln w="12700">
            <a:solidFill>
              <a:srgbClr val="E6F6FC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777240" y="5715000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تنفيذية: قيمة 5G الحقيقية في وضع Standalone وخدمات الأعمال (B2B)، لا في سرعة المستهلك فقط.</a:t>
            </a:r>
            <a:endParaRPr lang="ar-SA" sz="1250" dirty="0"/>
          </a:p>
        </p:txBody>
      </p:sp>
      <p:sp>
        <p:nvSpPr>
          <p:cNvPr id="52" name="Text 4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ar-SA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320040"/>
            <a:ext cx="987552" cy="987552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652760" y="32004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5G-A</a:t>
            </a:r>
            <a:endParaRPr lang="ar-SA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921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الجيل الخامس المتقدم (5G-Advanced): الجسر نحو 6G</a:t>
            </a:r>
            <a:endParaRPr lang="ar-SA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المعيار: 3GPP Release 18 (تجميد 2024) و Release 19 (2025) | أول نشر تجاري 2024–2025</a:t>
            </a:r>
            <a:endParaRPr lang="ar-SA" sz="1200" dirty="0"/>
          </a:p>
        </p:txBody>
      </p:sp>
      <p:sp>
        <p:nvSpPr>
          <p:cNvPr id="6" name="Shape 4"/>
          <p:cNvSpPr/>
          <p:nvPr/>
        </p:nvSpPr>
        <p:spPr>
          <a:xfrm>
            <a:off x="9034272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98864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سرعة نقل البيانات</a:t>
            </a:r>
            <a:endParaRPr lang="ar-SA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98864" y="18928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Gbps</a:t>
            </a:r>
            <a:endParaRPr lang="ar-SA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198864" y="237744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للمستخدم (تجريبي) | رفع حتى ‪1 Gbps‬ أي أضعاف 5G | كفاءة طيفية +30%</a:t>
            </a:r>
            <a:endParaRPr lang="ar-SA" sz="950" dirty="0"/>
          </a:p>
        </p:txBody>
      </p:sp>
      <p:sp>
        <p:nvSpPr>
          <p:cNvPr id="10" name="Shape 8"/>
          <p:cNvSpPr/>
          <p:nvPr/>
        </p:nvSpPr>
        <p:spPr>
          <a:xfrm>
            <a:off x="6245352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كثافة المستخدمين</a:t>
            </a:r>
            <a:endParaRPr lang="ar-SA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18928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10× السعة</a:t>
            </a:r>
            <a:endParaRPr lang="ar-SA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37744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خلية عبر ELAA-MM | تحديد الموقع بدقة سنتيمترية</a:t>
            </a:r>
            <a:endParaRPr lang="ar-SA" sz="950" dirty="0"/>
          </a:p>
        </p:txBody>
      </p:sp>
      <p:sp>
        <p:nvSpPr>
          <p:cNvPr id="14" name="Shape 12"/>
          <p:cNvSpPr/>
          <p:nvPr/>
        </p:nvSpPr>
        <p:spPr>
          <a:xfrm>
            <a:off x="9034272" y="3172968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98864" y="32826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التردد</a:t>
            </a:r>
            <a:endParaRPr lang="ar-SA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98864" y="35570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6.4–7.1 GHz</a:t>
            </a:r>
            <a:endParaRPr lang="ar-SA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9198864" y="40416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النطاق العلوي من ‪6 GHz‬ (قرار WRC-23) إضافة إلى FR1/FR2 | توسيع mmWave | الأقمار NTN</a:t>
            </a:r>
            <a:endParaRPr lang="ar-SA" sz="950" dirty="0"/>
          </a:p>
        </p:txBody>
      </p:sp>
      <p:sp>
        <p:nvSpPr>
          <p:cNvPr id="18" name="Shape 16"/>
          <p:cNvSpPr/>
          <p:nvPr/>
        </p:nvSpPr>
        <p:spPr>
          <a:xfrm>
            <a:off x="6245352" y="3172968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9944" y="32826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والذكاء</a:t>
            </a:r>
            <a:endParaRPr lang="ar-SA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35570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أصيل</a:t>
            </a:r>
            <a:endParaRPr lang="ar-SA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40416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طاقة حتى 30% | حالات استخدام XR و RedCap للأجهزة الخفيفة</a:t>
            </a:r>
            <a:endParaRPr lang="ar-SA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1508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أتاح هذا الجيل؟</a:t>
            </a:r>
            <a:endParaRPr lang="ar-SA" sz="1700" dirty="0"/>
          </a:p>
        </p:txBody>
      </p:sp>
      <p:sp>
        <p:nvSpPr>
          <p:cNvPr id="23" name="Shape 21"/>
          <p:cNvSpPr/>
          <p:nvPr/>
        </p:nvSpPr>
        <p:spPr>
          <a:xfrm>
            <a:off x="5715000" y="2011680"/>
            <a:ext cx="502920" cy="502920"/>
          </a:xfrm>
          <a:prstGeom prst="ellipse">
            <a:avLst/>
          </a:prstGeom>
          <a:solidFill>
            <a:srgbClr val="E7E2FF"/>
          </a:solidFill>
          <a:ln w="12700">
            <a:solidFill>
              <a:srgbClr val="E7E2FF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2130552"/>
            <a:ext cx="265176" cy="26517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48640" y="19842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الواقع الممتد XR والوسائط الغامرة بزمن استجابة منخفض</a:t>
            </a:r>
            <a:endParaRPr lang="ar-SA" sz="1250" dirty="0"/>
          </a:p>
        </p:txBody>
      </p:sp>
      <p:sp>
        <p:nvSpPr>
          <p:cNvPr id="26" name="Shape 23"/>
          <p:cNvSpPr/>
          <p:nvPr/>
        </p:nvSpPr>
        <p:spPr>
          <a:xfrm>
            <a:off x="5715000" y="2670048"/>
            <a:ext cx="502920" cy="502920"/>
          </a:xfrm>
          <a:prstGeom prst="ellipse">
            <a:avLst/>
          </a:prstGeom>
          <a:solidFill>
            <a:srgbClr val="E7E2FF"/>
          </a:solidFill>
          <a:ln w="12700">
            <a:solidFill>
              <a:srgbClr val="E7E2FF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788920"/>
            <a:ext cx="265176" cy="26517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48640" y="264261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التكامل مع الأقمار الصناعية (NTN) لتغطية شاملة</a:t>
            </a:r>
            <a:endParaRPr lang="ar-SA" sz="1250" dirty="0"/>
          </a:p>
        </p:txBody>
      </p:sp>
      <p:sp>
        <p:nvSpPr>
          <p:cNvPr id="29" name="Shape 25"/>
          <p:cNvSpPr/>
          <p:nvPr/>
        </p:nvSpPr>
        <p:spPr>
          <a:xfrm>
            <a:off x="5715000" y="3328416"/>
            <a:ext cx="502920" cy="502920"/>
          </a:xfrm>
          <a:prstGeom prst="ellipse">
            <a:avLst/>
          </a:prstGeom>
          <a:solidFill>
            <a:srgbClr val="E7E2FF"/>
          </a:solidFill>
          <a:ln w="12700">
            <a:solidFill>
              <a:srgbClr val="E7E2FF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3447288"/>
            <a:ext cx="265176" cy="26517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48640" y="330098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في واجهة الراديو وإدارة الشبكة</a:t>
            </a:r>
            <a:endParaRPr lang="ar-SA" sz="1250" dirty="0"/>
          </a:p>
        </p:txBody>
      </p:sp>
      <p:sp>
        <p:nvSpPr>
          <p:cNvPr id="32" name="Shape 27"/>
          <p:cNvSpPr/>
          <p:nvPr/>
        </p:nvSpPr>
        <p:spPr>
          <a:xfrm>
            <a:off x="5715000" y="3986784"/>
            <a:ext cx="502920" cy="502920"/>
          </a:xfrm>
          <a:prstGeom prst="ellipse">
            <a:avLst/>
          </a:prstGeom>
          <a:solidFill>
            <a:srgbClr val="E7E2FF"/>
          </a:solidFill>
          <a:ln w="12700">
            <a:solidFill>
              <a:srgbClr val="E7E2F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4105656"/>
            <a:ext cx="265176" cy="26517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48640" y="395935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RedCap: أجهزة إنترنت أشياء أرخص وأقل استهلاكاً</a:t>
            </a:r>
            <a:endParaRPr lang="ar-SA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489204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 الرئيسية</a:t>
            </a:r>
            <a:endParaRPr lang="ar-SA" sz="1250" dirty="0"/>
          </a:p>
        </p:txBody>
      </p:sp>
      <p:sp>
        <p:nvSpPr>
          <p:cNvPr id="36" name="Shape 30"/>
          <p:cNvSpPr/>
          <p:nvPr/>
        </p:nvSpPr>
        <p:spPr>
          <a:xfrm>
            <a:off x="10355580" y="5212080"/>
            <a:ext cx="1284732" cy="329184"/>
          </a:xfrm>
          <a:prstGeom prst="roundRect">
            <a:avLst>
              <a:gd name="adj" fmla="val 50000"/>
            </a:avLst>
          </a:prstGeom>
          <a:solidFill>
            <a:srgbClr val="EBE7FF"/>
          </a:solidFill>
          <a:ln w="12700">
            <a:solidFill>
              <a:srgbClr val="EBE7F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0355580" y="5212080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18/19</a:t>
            </a:r>
            <a:endParaRPr lang="ar-SA" sz="1000" dirty="0"/>
          </a:p>
        </p:txBody>
      </p:sp>
      <p:sp>
        <p:nvSpPr>
          <p:cNvPr id="38" name="Shape 32"/>
          <p:cNvSpPr/>
          <p:nvPr/>
        </p:nvSpPr>
        <p:spPr>
          <a:xfrm>
            <a:off x="8476488" y="5212080"/>
            <a:ext cx="1751076" cy="329184"/>
          </a:xfrm>
          <a:prstGeom prst="roundRect">
            <a:avLst>
              <a:gd name="adj" fmla="val 50000"/>
            </a:avLst>
          </a:prstGeom>
          <a:solidFill>
            <a:srgbClr val="EBE7FF"/>
          </a:solidFill>
          <a:ln w="12700">
            <a:solidFill>
              <a:srgbClr val="EBE7FF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8476488" y="5212080"/>
            <a:ext cx="1751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Air Interface</a:t>
            </a:r>
            <a:endParaRPr lang="ar-SA" sz="1000" dirty="0"/>
          </a:p>
        </p:txBody>
      </p:sp>
      <p:sp>
        <p:nvSpPr>
          <p:cNvPr id="40" name="Shape 34"/>
          <p:cNvSpPr/>
          <p:nvPr/>
        </p:nvSpPr>
        <p:spPr>
          <a:xfrm>
            <a:off x="6830568" y="5212080"/>
            <a:ext cx="1517904" cy="329184"/>
          </a:xfrm>
          <a:prstGeom prst="roundRect">
            <a:avLst>
              <a:gd name="adj" fmla="val 50000"/>
            </a:avLst>
          </a:prstGeom>
          <a:solidFill>
            <a:srgbClr val="EBE7FF"/>
          </a:solidFill>
          <a:ln w="12700">
            <a:solidFill>
              <a:srgbClr val="EBE7FF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830568" y="5212080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RedCap / eRedCap</a:t>
            </a:r>
            <a:endParaRPr lang="ar-SA" sz="1000" dirty="0"/>
          </a:p>
        </p:txBody>
      </p:sp>
      <p:sp>
        <p:nvSpPr>
          <p:cNvPr id="42" name="Shape 36"/>
          <p:cNvSpPr/>
          <p:nvPr/>
        </p:nvSpPr>
        <p:spPr>
          <a:xfrm>
            <a:off x="5925312" y="521208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BE7FF"/>
          </a:solidFill>
          <a:ln w="12700">
            <a:solidFill>
              <a:srgbClr val="EBE7FF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5925312" y="52120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NTN</a:t>
            </a:r>
            <a:endParaRPr lang="ar-SA" sz="1000" dirty="0"/>
          </a:p>
        </p:txBody>
      </p:sp>
      <p:sp>
        <p:nvSpPr>
          <p:cNvPr id="44" name="Shape 38"/>
          <p:cNvSpPr/>
          <p:nvPr/>
        </p:nvSpPr>
        <p:spPr>
          <a:xfrm>
            <a:off x="4668012" y="5212080"/>
            <a:ext cx="1129284" cy="329184"/>
          </a:xfrm>
          <a:prstGeom prst="roundRect">
            <a:avLst>
              <a:gd name="adj" fmla="val 50000"/>
            </a:avLst>
          </a:prstGeom>
          <a:solidFill>
            <a:srgbClr val="EBE7FF"/>
          </a:solidFill>
          <a:ln w="12700">
            <a:solidFill>
              <a:srgbClr val="EBE7FF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4668012" y="5212080"/>
            <a:ext cx="11292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IoT</a:t>
            </a:r>
            <a:endParaRPr lang="ar-SA" sz="1000" dirty="0"/>
          </a:p>
        </p:txBody>
      </p:sp>
      <p:sp>
        <p:nvSpPr>
          <p:cNvPr id="46" name="Shape 40"/>
          <p:cNvSpPr/>
          <p:nvPr/>
        </p:nvSpPr>
        <p:spPr>
          <a:xfrm>
            <a:off x="3255264" y="5212080"/>
            <a:ext cx="1284732" cy="329184"/>
          </a:xfrm>
          <a:prstGeom prst="roundRect">
            <a:avLst>
              <a:gd name="adj" fmla="val 50000"/>
            </a:avLst>
          </a:prstGeom>
          <a:solidFill>
            <a:srgbClr val="EBE7FF"/>
          </a:solidFill>
          <a:ln w="12700">
            <a:solidFill>
              <a:srgbClr val="EBE7FF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3255264" y="5212080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 (بدايات)</a:t>
            </a:r>
            <a:endParaRPr lang="ar-SA" sz="1000" dirty="0"/>
          </a:p>
        </p:txBody>
      </p:sp>
      <p:sp>
        <p:nvSpPr>
          <p:cNvPr id="48" name="Shape 42"/>
          <p:cNvSpPr/>
          <p:nvPr/>
        </p:nvSpPr>
        <p:spPr>
          <a:xfrm>
            <a:off x="1220724" y="5212080"/>
            <a:ext cx="1906524" cy="329184"/>
          </a:xfrm>
          <a:prstGeom prst="roundRect">
            <a:avLst>
              <a:gd name="adj" fmla="val 50000"/>
            </a:avLst>
          </a:prstGeom>
          <a:solidFill>
            <a:srgbClr val="EBE7FF"/>
          </a:solidFill>
          <a:ln w="12700">
            <a:solidFill>
              <a:srgbClr val="EBE7FF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1220724" y="5212080"/>
            <a:ext cx="1906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Energy Saving</a:t>
            </a:r>
            <a:endParaRPr lang="ar-SA" sz="1000" dirty="0"/>
          </a:p>
        </p:txBody>
      </p:sp>
      <p:sp>
        <p:nvSpPr>
          <p:cNvPr id="50" name="Shape 44"/>
          <p:cNvSpPr/>
          <p:nvPr/>
        </p:nvSpPr>
        <p:spPr>
          <a:xfrm>
            <a:off x="548640" y="5715000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F2EFFF"/>
          </a:solidFill>
          <a:ln w="12700">
            <a:solidFill>
              <a:srgbClr val="F2EFFF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777240" y="5715000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تنفيذية: 5G-Advanced ترقية برمجية إلى حد كبير على بنية 5G SA؛ فرصة لرفع الإيرادات دون استثمار رأسمالي ضخم.</a:t>
            </a:r>
            <a:endParaRPr lang="ar-SA" sz="1250" dirty="0"/>
          </a:p>
        </p:txBody>
      </p:sp>
      <p:sp>
        <p:nvSpPr>
          <p:cNvPr id="52" name="Text 4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ar-SA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320040"/>
            <a:ext cx="987552" cy="987552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652760" y="32004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6G</a:t>
            </a:r>
            <a:endParaRPr lang="ar-SA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921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الجيل السادس (6G): IMT-2030 — الشبكة الذكية الحسّاسة</a:t>
            </a:r>
            <a:endParaRPr lang="ar-SA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إطار ITU-R IMT-2030 (2023) | المعيار 3GPP Release 20/21 (2027–2029) | الإطلاق التجاري المتوقع حوالي 2030</a:t>
            </a:r>
            <a:endParaRPr lang="ar-SA" sz="1200" dirty="0"/>
          </a:p>
        </p:txBody>
      </p:sp>
      <p:sp>
        <p:nvSpPr>
          <p:cNvPr id="6" name="Shape 4"/>
          <p:cNvSpPr/>
          <p:nvPr/>
        </p:nvSpPr>
        <p:spPr>
          <a:xfrm>
            <a:off x="9034272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98864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سرعة نقل البيانات</a:t>
            </a:r>
            <a:endParaRPr lang="ar-SA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98864" y="18928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Tbps</a:t>
            </a:r>
            <a:endParaRPr lang="ar-SA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198864" y="237744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ذروة مستهدفة (50× 5G) | ‪1 Gbps‬ سرعة للمستخدم | زمن استجابة ‪0.1 ms‬</a:t>
            </a:r>
            <a:endParaRPr lang="ar-SA" sz="950" dirty="0"/>
          </a:p>
        </p:txBody>
      </p:sp>
      <p:sp>
        <p:nvSpPr>
          <p:cNvPr id="10" name="Shape 8"/>
          <p:cNvSpPr/>
          <p:nvPr/>
        </p:nvSpPr>
        <p:spPr>
          <a:xfrm>
            <a:off x="6245352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كثافة المستخدمين</a:t>
            </a:r>
            <a:endParaRPr lang="ar-SA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189280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مليون / كم²</a:t>
            </a:r>
            <a:endParaRPr lang="ar-SA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37744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 كثافة 5G | موثوقية 99.99999% | حركية حتى 1000 كم/س</a:t>
            </a:r>
            <a:endParaRPr lang="ar-SA" sz="950" dirty="0"/>
          </a:p>
        </p:txBody>
      </p:sp>
      <p:sp>
        <p:nvSpPr>
          <p:cNvPr id="14" name="Shape 12"/>
          <p:cNvSpPr/>
          <p:nvPr/>
        </p:nvSpPr>
        <p:spPr>
          <a:xfrm>
            <a:off x="9034272" y="3172968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98864" y="32826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التردد</a:t>
            </a:r>
            <a:endParaRPr lang="ar-SA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98864" y="35570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7–24 GHz + THz</a:t>
            </a:r>
            <a:endParaRPr lang="ar-SA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9198864" y="40416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FR3 السنتيمتري (‪7.125–24.25 GHz‬) | دون التيراهرتز ‪100–300 GHz‬</a:t>
            </a:r>
            <a:endParaRPr lang="ar-SA" sz="950" dirty="0"/>
          </a:p>
        </p:txBody>
      </p:sp>
      <p:sp>
        <p:nvSpPr>
          <p:cNvPr id="18" name="Shape 16"/>
          <p:cNvSpPr/>
          <p:nvPr/>
        </p:nvSpPr>
        <p:spPr>
          <a:xfrm>
            <a:off x="6245352" y="3172968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9944" y="32826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قدرات جديدة</a:t>
            </a:r>
            <a:endParaRPr lang="ar-SA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3557016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اتصال + استشعار</a:t>
            </a:r>
            <a:endParaRPr lang="ar-SA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40416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 | ذكاء اصطناعي أصيل | كفاءة طاقة 100× | تغطية أرضية-فضائية موحدة</a:t>
            </a:r>
            <a:endParaRPr lang="ar-SA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1508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أتاح هذا الجيل؟</a:t>
            </a:r>
            <a:endParaRPr lang="ar-SA" sz="1700" dirty="0"/>
          </a:p>
        </p:txBody>
      </p:sp>
      <p:sp>
        <p:nvSpPr>
          <p:cNvPr id="23" name="Shape 21"/>
          <p:cNvSpPr/>
          <p:nvPr/>
        </p:nvSpPr>
        <p:spPr>
          <a:xfrm>
            <a:off x="5715000" y="2011680"/>
            <a:ext cx="502920" cy="502920"/>
          </a:xfrm>
          <a:prstGeom prst="ellipse">
            <a:avLst/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2130552"/>
            <a:ext cx="265176" cy="26517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48640" y="19842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الروبوتات التعاونية والتوائم الرقمية بزمن حقيقي</a:t>
            </a:r>
            <a:endParaRPr lang="ar-SA" sz="1250" dirty="0"/>
          </a:p>
        </p:txBody>
      </p:sp>
      <p:sp>
        <p:nvSpPr>
          <p:cNvPr id="26" name="Shape 23"/>
          <p:cNvSpPr/>
          <p:nvPr/>
        </p:nvSpPr>
        <p:spPr>
          <a:xfrm>
            <a:off x="5715000" y="2670048"/>
            <a:ext cx="502920" cy="502920"/>
          </a:xfrm>
          <a:prstGeom prst="ellipse">
            <a:avLst/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788920"/>
            <a:ext cx="265176" cy="26517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48640" y="264261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الشبكة كمستشعر: كشف الحركة والبيئة دون أجهزة إضافية</a:t>
            </a:r>
            <a:endParaRPr lang="ar-SA" sz="1250" dirty="0"/>
          </a:p>
        </p:txBody>
      </p:sp>
      <p:sp>
        <p:nvSpPr>
          <p:cNvPr id="29" name="Shape 25"/>
          <p:cNvSpPr/>
          <p:nvPr/>
        </p:nvSpPr>
        <p:spPr>
          <a:xfrm>
            <a:off x="5715000" y="3328416"/>
            <a:ext cx="502920" cy="502920"/>
          </a:xfrm>
          <a:prstGeom prst="ellipse">
            <a:avLst/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3447288"/>
            <a:ext cx="265176" cy="26517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48640" y="330098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الاتصالات الهولوغرافية والإنترنت اللمسي</a:t>
            </a:r>
            <a:endParaRPr lang="ar-SA" sz="1250" dirty="0"/>
          </a:p>
        </p:txBody>
      </p:sp>
      <p:sp>
        <p:nvSpPr>
          <p:cNvPr id="32" name="Shape 27"/>
          <p:cNvSpPr/>
          <p:nvPr/>
        </p:nvSpPr>
        <p:spPr>
          <a:xfrm>
            <a:off x="5715000" y="3986784"/>
            <a:ext cx="502920" cy="502920"/>
          </a:xfrm>
          <a:prstGeom prst="ellipse">
            <a:avLst/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4105656"/>
            <a:ext cx="265176" cy="26517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48640" y="395935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الاستدامة: هدف صافي صفري للطاقة لكل بت</a:t>
            </a:r>
            <a:endParaRPr lang="ar-SA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489204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 الرئيسية</a:t>
            </a:r>
            <a:endParaRPr lang="ar-SA" sz="1250" dirty="0"/>
          </a:p>
        </p:txBody>
      </p:sp>
      <p:sp>
        <p:nvSpPr>
          <p:cNvPr id="36" name="Shape 30"/>
          <p:cNvSpPr/>
          <p:nvPr/>
        </p:nvSpPr>
        <p:spPr>
          <a:xfrm>
            <a:off x="10821924" y="5212080"/>
            <a:ext cx="818388" cy="329184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 w="12700">
            <a:solidFill>
              <a:srgbClr val="FFE9E4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0821924" y="5212080"/>
            <a:ext cx="8183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Sub-THz</a:t>
            </a:r>
            <a:endParaRPr lang="ar-SA" sz="1000" dirty="0"/>
          </a:p>
        </p:txBody>
      </p:sp>
      <p:sp>
        <p:nvSpPr>
          <p:cNvPr id="38" name="Shape 32"/>
          <p:cNvSpPr/>
          <p:nvPr/>
        </p:nvSpPr>
        <p:spPr>
          <a:xfrm>
            <a:off x="9253728" y="5212080"/>
            <a:ext cx="1440180" cy="329184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 w="12700">
            <a:solidFill>
              <a:srgbClr val="FFE9E4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9253728" y="5212080"/>
            <a:ext cx="1440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 (أسطح ذكية)</a:t>
            </a:r>
            <a:endParaRPr lang="ar-SA" sz="1000" dirty="0"/>
          </a:p>
        </p:txBody>
      </p:sp>
      <p:sp>
        <p:nvSpPr>
          <p:cNvPr id="40" name="Shape 34"/>
          <p:cNvSpPr/>
          <p:nvPr/>
        </p:nvSpPr>
        <p:spPr>
          <a:xfrm>
            <a:off x="7840980" y="5212080"/>
            <a:ext cx="1284732" cy="329184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 w="12700">
            <a:solidFill>
              <a:srgbClr val="FFE9E4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840980" y="5212080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RAN</a:t>
            </a:r>
            <a:endParaRPr lang="ar-SA" sz="1000" dirty="0"/>
          </a:p>
        </p:txBody>
      </p:sp>
      <p:sp>
        <p:nvSpPr>
          <p:cNvPr id="42" name="Shape 36"/>
          <p:cNvSpPr/>
          <p:nvPr/>
        </p:nvSpPr>
        <p:spPr>
          <a:xfrm>
            <a:off x="6935724" y="521208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 w="12700">
            <a:solidFill>
              <a:srgbClr val="FFE9E4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935724" y="52120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</a:t>
            </a:r>
            <a:endParaRPr lang="ar-SA" sz="1000" dirty="0"/>
          </a:p>
        </p:txBody>
      </p:sp>
      <p:sp>
        <p:nvSpPr>
          <p:cNvPr id="44" name="Shape 38"/>
          <p:cNvSpPr/>
          <p:nvPr/>
        </p:nvSpPr>
        <p:spPr>
          <a:xfrm>
            <a:off x="4823460" y="5212080"/>
            <a:ext cx="1984248" cy="329184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 w="12700">
            <a:solidFill>
              <a:srgbClr val="FFE9E4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4823460" y="5212080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Cell-free Massive MIMO</a:t>
            </a:r>
            <a:endParaRPr lang="ar-SA" sz="1000" dirty="0"/>
          </a:p>
        </p:txBody>
      </p:sp>
      <p:sp>
        <p:nvSpPr>
          <p:cNvPr id="46" name="Shape 40"/>
          <p:cNvSpPr/>
          <p:nvPr/>
        </p:nvSpPr>
        <p:spPr>
          <a:xfrm>
            <a:off x="3332988" y="5212080"/>
            <a:ext cx="1362456" cy="329184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 w="12700">
            <a:solidFill>
              <a:srgbClr val="FFE9E4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3332988" y="5212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Comms</a:t>
            </a:r>
            <a:endParaRPr lang="ar-SA" sz="1000" dirty="0"/>
          </a:p>
        </p:txBody>
      </p:sp>
      <p:sp>
        <p:nvSpPr>
          <p:cNvPr id="48" name="Shape 42"/>
          <p:cNvSpPr/>
          <p:nvPr/>
        </p:nvSpPr>
        <p:spPr>
          <a:xfrm>
            <a:off x="2231136" y="5212080"/>
            <a:ext cx="973836" cy="329184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 w="12700">
            <a:solidFill>
              <a:srgbClr val="FFE9E4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2231136" y="5212080"/>
            <a:ext cx="973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NTN موحدة</a:t>
            </a:r>
            <a:endParaRPr lang="ar-SA" sz="1000" dirty="0"/>
          </a:p>
        </p:txBody>
      </p:sp>
      <p:sp>
        <p:nvSpPr>
          <p:cNvPr id="50" name="Shape 44"/>
          <p:cNvSpPr/>
          <p:nvPr/>
        </p:nvSpPr>
        <p:spPr>
          <a:xfrm>
            <a:off x="548640" y="5715000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FFF0ED"/>
          </a:solidFill>
          <a:ln w="12700">
            <a:solidFill>
              <a:srgbClr val="FFF0ED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777240" y="5715000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تنفيذية: 6G لن يستبدل 5G بل يبنى فوقه؛ القرار الحالي هو تأمين الطيف (FR3) وتحديث النواة إلى سحابة أصيلة استعداداً له.</a:t>
            </a:r>
            <a:endParaRPr lang="ar-SA" sz="1250" dirty="0"/>
          </a:p>
        </p:txBody>
      </p:sp>
      <p:sp>
        <p:nvSpPr>
          <p:cNvPr id="52" name="Text 4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ar-SA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5G: ثلاث ركائز للخدمة بدل خدمة واحدة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متطلبات IMT-2020 مقابل الأداء الفعلي المُقاس في الشبكات التجارية</a:t>
            </a:r>
            <a:endParaRPr lang="ar-SA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63040"/>
            <a:ext cx="4937760" cy="411480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852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الأداء الفعلي (2025)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هدف IMT-2020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المؤشر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1–4 Gbps (mmWave) | 0.5–1.5 Gbps (3.5 GHz)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Gbps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ذروة التنزيل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‪150–400 Mbps‬ في الأسواق الرائدة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متوسط سرعة المستخدم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‪8–20 ms‬ طرف إلى طرف (SA)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 ms‬ (راديو)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زمن الاستجابة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يتحقق نظرياً مع mMTC / RedCap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مليون / كم²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الكثافة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3× كفاءة 4G عملياً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‪30 bps/Hz‬ تنزيل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كفاءة الطيف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663440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E6F6FC"/>
          </a:solidFill>
          <a:ln w="12700">
            <a:solidFill>
              <a:srgbClr val="E6F6F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4663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الفجوة بين الهدف والواقع طبيعية: الأهداف تُقاس في ظروف مثالية بعرض نطاق كامل، بينما تحدد كمية الطيف المتاحة للمشغل (‪100 MHz‬ في ‪3.5 GHz‬) الأداء الفعلي.</a:t>
            </a:r>
            <a:endParaRPr lang="ar-SA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ar-SA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المقارنة الشامل بين الأجيال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القدرات الرئيسية: سرعة البيانات، المستخدمون، نطاق التردد، عرض القناة، التقنية</a:t>
            </a:r>
            <a:endParaRPr lang="ar-SA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148840"/>
                <a:gridCol w="1783080"/>
                <a:gridCol w="960120"/>
                <a:gridCol w="1600200"/>
                <a:gridCol w="1691640"/>
                <a:gridCol w="685800"/>
                <a:gridCol w="621792"/>
              </a:tblGrid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عرض القناة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نطاق التردد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المستخدمون / الكثافة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زمن الاستجابة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ذروة سرعة التنزيل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التقنية الأساسية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الإطلاق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الجيل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kHz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850 / 900 / 1800 / 1900 MHz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لكل حامل ‪200 kHz‬ | مئات لكل خلية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500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‪9.6 kbps → 384 kbps‬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GSM / TDMA — GPRS / EDGE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94A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MHz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850 / 900 / 1900 / 2100 MHz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100–200 متزامن لكل حامل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100–200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‪384 kbps → 42 Mbps‬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UMTS / WCDMA — HSPA+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B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‪1.4–20 MHz‬ (CA حتى 100)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‪450 MHz‬ – ‪5.9 GHz‬ (أساساً 700–2600)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100 ألف / كم²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30–50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‪100 Mbps → 3 Gbps‬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LTE / OFDMA — LTE-A Pro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B8A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MHz (FR1) / 400 MHz (FR2)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FR1: 0.41–7.125 GHz | FR2: 24–71 GHz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مليون / كم²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1–10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Gbps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 / CP-OFDM — Massive MIMO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3E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حتى ‪400 MHz‬ + CA واسع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‪6 GHz‬ العلوي (6.4–7.1) + mmWave موسع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10× سعة الخلية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1–5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‪10 Gbps‬ للمستخدم (عملياً)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 Rel-18/19 + AI/ML + NTN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5G-A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غيغاهرتز متعددة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FR3: ‪7–24 GHz‬ | ‪100–300 GHz‬ + الحالي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مليون / كم²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Tbps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AI-Native — ISAC — Sub-THz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2030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4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 الذروية وفق معايير 3GPP وأهداف ITU (IMT-2000 / IMT-Advanced / IMT-2020 / IMT-2030). القيم المسبوقة بـ ≈ تقديرات تشغيلية نموذجية وتختلف بحسب التهيئة والطيف المتاح.</a:t>
            </a:r>
            <a:endParaRPr lang="ar-SA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ar-SA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ذروة سرعة نقل البيانات: نمو أسّي بمعامل 10–50 لكل جيل</a:t>
            </a:r>
            <a:endParaRPr lang="ar-SA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بالميغابت في الثانية (Mbps) — مقياس لوغاريتمي، القيم الذروية حسب المعيار</a:t>
            </a:r>
            <a:endParaRPr lang="ar-SA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554480"/>
            <a:ext cx="3319272" cy="1325880"/>
          </a:xfrm>
          <a:prstGeom prst="roundRect">
            <a:avLst>
              <a:gd name="adj" fmla="val 827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691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×2.6 مليون</a:t>
            </a:r>
            <a:endParaRPr lang="ar-SA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2677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EDGE (‪384 kbps‬) إلى 6G (‪1 Tbps‬)</a:t>
            </a:r>
            <a:endParaRPr lang="ar-SA" sz="1100" dirty="0"/>
          </a:p>
        </p:txBody>
      </p:sp>
      <p:sp>
        <p:nvSpPr>
          <p:cNvPr id="8" name="Shape 5"/>
          <p:cNvSpPr/>
          <p:nvPr/>
        </p:nvSpPr>
        <p:spPr>
          <a:xfrm>
            <a:off x="8321040" y="3063240"/>
            <a:ext cx="3319272" cy="1325880"/>
          </a:xfrm>
          <a:prstGeom prst="roundRect">
            <a:avLst>
              <a:gd name="adj" fmla="val 827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0392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6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×50</a:t>
            </a:r>
            <a:endParaRPr lang="ar-SA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37764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5G إلى 6G (‪20 Gbps‬ → ‪1 Tbps‬)</a:t>
            </a:r>
            <a:endParaRPr lang="ar-SA" sz="1100" dirty="0"/>
          </a:p>
        </p:txBody>
      </p:sp>
      <p:sp>
        <p:nvSpPr>
          <p:cNvPr id="11" name="Shape 8"/>
          <p:cNvSpPr/>
          <p:nvPr/>
        </p:nvSpPr>
        <p:spPr>
          <a:xfrm>
            <a:off x="8321040" y="4572000"/>
            <a:ext cx="3319272" cy="1325880"/>
          </a:xfrm>
          <a:prstGeom prst="roundRect">
            <a:avLst>
              <a:gd name="adj" fmla="val 827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03920" y="4709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26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×100</a:t>
            </a:r>
            <a:endParaRPr lang="ar-SA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52852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سرعة المستخدم الفعلية: 4G (‪10 Mbps‬) → 6G (‪1 Gbps‬)</a:t>
            </a:r>
            <a:endParaRPr lang="ar-SA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ar-SA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زمن الاستجابة وكثافة المستخدمين: مفتاحا الأسواق الجديدة</a:t>
            </a:r>
            <a:endParaRPr lang="ar-SA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مقياس لوغاريتمي — كلما انخفض زمن الاستجابة وارتفعت الكثافة، اتسعت حالات الاستخدام الصناعية</a:t>
            </a:r>
            <a:endParaRPr lang="ar-SA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263640" y="146304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" y="146304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F2EFFF"/>
          </a:solidFill>
          <a:ln w="12700">
            <a:solidFill>
              <a:srgbClr val="F2EF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76072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 2G و3G و5G-A تقديرية لأغراض المقارنة؛ أما 4G و5G و6G فهي أهداف ITU الرسمية (IMT-Advanced و IMT-2020 و IMT-2030).</a:t>
            </a:r>
            <a:endParaRPr lang="ar-SA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ar-SA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الطيف: كل جيل يصعد إلى ترددات أعلى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النطاقات الترددية الرئيسية لكل جيل — التردد المنخفض يمنح التغطية، والمرتفع يمنح السعة</a:t>
            </a:r>
            <a:endParaRPr lang="ar-SA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91672" cy="484747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ar-SA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بنية الشبكة: من التبديل الدائري إلى النواة الذكية</a:t>
            </a:r>
            <a:endParaRPr lang="ar-SA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طبقات: الشبكة الأساسية، شبكة الوصول الراديوي، وتقنية الهوائي والراديو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10104120" y="2075688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2075688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الشبكة الأساسية</a:t>
            </a:r>
            <a:endParaRPr lang="ar-SA" sz="1300" dirty="0"/>
          </a:p>
        </p:txBody>
      </p:sp>
      <p:sp>
        <p:nvSpPr>
          <p:cNvPr id="6" name="Shape 4"/>
          <p:cNvSpPr/>
          <p:nvPr/>
        </p:nvSpPr>
        <p:spPr>
          <a:xfrm>
            <a:off x="10104120" y="3328416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95560" y="3328416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شبكة الوصول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10104120" y="4581144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95560" y="4581144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الراديو والهوائي</a:t>
            </a:r>
            <a:endParaRPr lang="ar-SA" sz="1300" dirty="0"/>
          </a:p>
        </p:txBody>
      </p:sp>
      <p:sp>
        <p:nvSpPr>
          <p:cNvPr id="10" name="Shape 8"/>
          <p:cNvSpPr/>
          <p:nvPr/>
        </p:nvSpPr>
        <p:spPr>
          <a:xfrm>
            <a:off x="8970264" y="1508760"/>
            <a:ext cx="475488" cy="475488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70264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2G</a:t>
            </a:r>
            <a:endParaRPr lang="ar-SA" sz="1300" dirty="0"/>
          </a:p>
        </p:txBody>
      </p:sp>
      <p:sp>
        <p:nvSpPr>
          <p:cNvPr id="12" name="Shape 10"/>
          <p:cNvSpPr/>
          <p:nvPr/>
        </p:nvSpPr>
        <p:spPr>
          <a:xfrm>
            <a:off x="8421624" y="2075688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EFF0F3"/>
          </a:solidFill>
          <a:ln w="12700">
            <a:solidFill>
              <a:srgbClr val="EFF0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94776" y="2148840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/ HLR + SGSN / GGSN</a:t>
            </a:r>
            <a:endParaRPr lang="ar-SA" sz="950" dirty="0"/>
          </a:p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تبديل الدوائر</a:t>
            </a:r>
            <a:endParaRPr lang="ar-SA" sz="950" dirty="0"/>
          </a:p>
        </p:txBody>
      </p:sp>
      <p:sp>
        <p:nvSpPr>
          <p:cNvPr id="14" name="Shape 12"/>
          <p:cNvSpPr/>
          <p:nvPr/>
        </p:nvSpPr>
        <p:spPr>
          <a:xfrm>
            <a:off x="8421624" y="3328416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94776" y="3401568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 + BSC</a:t>
            </a:r>
            <a:endParaRPr lang="ar-SA" sz="950" dirty="0"/>
          </a:p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هرمية مركزية</a:t>
            </a:r>
            <a:endParaRPr lang="ar-SA" sz="950" dirty="0"/>
          </a:p>
        </p:txBody>
      </p:sp>
      <p:sp>
        <p:nvSpPr>
          <p:cNvPr id="16" name="Shape 14"/>
          <p:cNvSpPr/>
          <p:nvPr/>
        </p:nvSpPr>
        <p:spPr>
          <a:xfrm>
            <a:off x="8421624" y="4581144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94776" y="4654296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TDMA — GMSK</a:t>
            </a:r>
            <a:endParaRPr lang="ar-SA" sz="950" dirty="0"/>
          </a:p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هوائي واحد</a:t>
            </a:r>
            <a:endParaRPr lang="ar-SA" sz="950" dirty="0"/>
          </a:p>
        </p:txBody>
      </p:sp>
      <p:sp>
        <p:nvSpPr>
          <p:cNvPr id="18" name="Shape 16"/>
          <p:cNvSpPr/>
          <p:nvPr/>
        </p:nvSpPr>
        <p:spPr>
          <a:xfrm>
            <a:off x="7287768" y="1508760"/>
            <a:ext cx="475488" cy="47548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3G</a:t>
            </a:r>
            <a:endParaRPr lang="ar-SA" sz="1300" dirty="0"/>
          </a:p>
        </p:txBody>
      </p:sp>
      <p:sp>
        <p:nvSpPr>
          <p:cNvPr id="20" name="Shape 18"/>
          <p:cNvSpPr/>
          <p:nvPr/>
        </p:nvSpPr>
        <p:spPr>
          <a:xfrm>
            <a:off x="6739128" y="2075688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E4EDF4"/>
          </a:solidFill>
          <a:ln w="12700">
            <a:solidFill>
              <a:srgbClr val="E4ED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2148840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+ SGSN / GGSN</a:t>
            </a:r>
            <a:endParaRPr lang="ar-SA" sz="950" dirty="0"/>
          </a:p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دوائر + حزم</a:t>
            </a:r>
            <a:endParaRPr lang="ar-SA" sz="950" dirty="0"/>
          </a:p>
        </p:txBody>
      </p:sp>
      <p:sp>
        <p:nvSpPr>
          <p:cNvPr id="22" name="Shape 20"/>
          <p:cNvSpPr/>
          <p:nvPr/>
        </p:nvSpPr>
        <p:spPr>
          <a:xfrm>
            <a:off x="6739128" y="3328416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3401568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NodeB + RNC</a:t>
            </a:r>
            <a:endParaRPr lang="ar-SA" sz="950" dirty="0"/>
          </a:p>
        </p:txBody>
      </p:sp>
      <p:sp>
        <p:nvSpPr>
          <p:cNvPr id="24" name="Shape 22"/>
          <p:cNvSpPr/>
          <p:nvPr/>
        </p:nvSpPr>
        <p:spPr>
          <a:xfrm>
            <a:off x="6739128" y="4581144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4654296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WCDMA — 5 MHz</a:t>
            </a:r>
            <a:endParaRPr lang="ar-SA" sz="950" dirty="0"/>
          </a:p>
          <a:p>
            <a:pPr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2x2</a:t>
            </a:r>
            <a:endParaRPr lang="ar-SA" sz="950" dirty="0"/>
          </a:p>
        </p:txBody>
      </p:sp>
      <p:sp>
        <p:nvSpPr>
          <p:cNvPr id="26" name="Shape 24"/>
          <p:cNvSpPr/>
          <p:nvPr/>
        </p:nvSpPr>
        <p:spPr>
          <a:xfrm>
            <a:off x="5605272" y="1508760"/>
            <a:ext cx="475488" cy="475488"/>
          </a:xfrm>
          <a:prstGeom prst="ellipse">
            <a:avLst/>
          </a:prstGeom>
          <a:solidFill>
            <a:srgbClr val="1FB8A6"/>
          </a:solidFill>
          <a:ln w="12700">
            <a:solidFill>
              <a:srgbClr val="1FB8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05272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</a:t>
            </a:r>
            <a:endParaRPr lang="ar-SA" sz="1300" dirty="0"/>
          </a:p>
        </p:txBody>
      </p:sp>
      <p:sp>
        <p:nvSpPr>
          <p:cNvPr id="28" name="Shape 26"/>
          <p:cNvSpPr/>
          <p:nvPr/>
        </p:nvSpPr>
        <p:spPr>
          <a:xfrm>
            <a:off x="5056632" y="2075688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E0F5F3"/>
          </a:solidFill>
          <a:ln w="12700">
            <a:solidFill>
              <a:srgbClr val="E0F5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9784" y="2148840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(MME / S-GW / P-GW)</a:t>
            </a:r>
            <a:endParaRPr lang="ar-SA" sz="950" dirty="0"/>
          </a:p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حزم IP بالكامل</a:t>
            </a:r>
            <a:endParaRPr lang="ar-SA" sz="950" dirty="0"/>
          </a:p>
        </p:txBody>
      </p:sp>
      <p:sp>
        <p:nvSpPr>
          <p:cNvPr id="30" name="Shape 28"/>
          <p:cNvSpPr/>
          <p:nvPr/>
        </p:nvSpPr>
        <p:spPr>
          <a:xfrm>
            <a:off x="5056632" y="3328416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29784" y="3401568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eNodeB مسطّحة</a:t>
            </a:r>
            <a:endParaRPr lang="ar-SA" sz="950" dirty="0"/>
          </a:p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 متحكم</a:t>
            </a:r>
            <a:endParaRPr lang="ar-SA" sz="950" dirty="0"/>
          </a:p>
        </p:txBody>
      </p:sp>
      <p:sp>
        <p:nvSpPr>
          <p:cNvPr id="32" name="Shape 30"/>
          <p:cNvSpPr/>
          <p:nvPr/>
        </p:nvSpPr>
        <p:spPr>
          <a:xfrm>
            <a:off x="5056632" y="4581144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29784" y="4654296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OFDMA — CA</a:t>
            </a:r>
            <a:endParaRPr lang="ar-SA" sz="950" dirty="0"/>
          </a:p>
          <a:p>
            <a:pPr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4x4 / 8x8</a:t>
            </a:r>
            <a:endParaRPr lang="ar-SA" sz="950" dirty="0"/>
          </a:p>
        </p:txBody>
      </p:sp>
      <p:sp>
        <p:nvSpPr>
          <p:cNvPr id="34" name="Shape 32"/>
          <p:cNvSpPr/>
          <p:nvPr/>
        </p:nvSpPr>
        <p:spPr>
          <a:xfrm>
            <a:off x="3922776" y="1508760"/>
            <a:ext cx="475488" cy="475488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922776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</a:t>
            </a:r>
            <a:endParaRPr lang="ar-SA" sz="1300" dirty="0"/>
          </a:p>
        </p:txBody>
      </p:sp>
      <p:sp>
        <p:nvSpPr>
          <p:cNvPr id="36" name="Shape 34"/>
          <p:cNvSpPr/>
          <p:nvPr/>
        </p:nvSpPr>
        <p:spPr>
          <a:xfrm>
            <a:off x="3374136" y="2075688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DBF2FB"/>
          </a:solidFill>
          <a:ln w="12700">
            <a:solidFill>
              <a:srgbClr val="DBF2F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47288" y="2148840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5GC — بنية خدمية SBA</a:t>
            </a:r>
            <a:endParaRPr lang="ar-SA" sz="950" dirty="0"/>
          </a:p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سحابية أصيلة</a:t>
            </a:r>
            <a:endParaRPr lang="ar-SA" sz="950" dirty="0"/>
          </a:p>
        </p:txBody>
      </p:sp>
      <p:sp>
        <p:nvSpPr>
          <p:cNvPr id="38" name="Shape 36"/>
          <p:cNvSpPr/>
          <p:nvPr/>
        </p:nvSpPr>
        <p:spPr>
          <a:xfrm>
            <a:off x="3374136" y="3328416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47288" y="3401568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gNodeB: CU / DU / RU</a:t>
            </a:r>
            <a:endParaRPr lang="ar-SA" sz="950" dirty="0"/>
          </a:p>
          <a:p>
            <a:pPr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RAN</a:t>
            </a:r>
            <a:endParaRPr lang="ar-SA" sz="950" dirty="0"/>
          </a:p>
        </p:txBody>
      </p:sp>
      <p:sp>
        <p:nvSpPr>
          <p:cNvPr id="40" name="Shape 38"/>
          <p:cNvSpPr/>
          <p:nvPr/>
        </p:nvSpPr>
        <p:spPr>
          <a:xfrm>
            <a:off x="3374136" y="4581144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47288" y="4654296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CP-OFDM</a:t>
            </a:r>
            <a:endParaRPr lang="ar-SA" sz="950" dirty="0"/>
          </a:p>
          <a:p>
            <a:pPr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MIMO 64T64R</a:t>
            </a:r>
            <a:endParaRPr lang="ar-SA" sz="950" dirty="0"/>
          </a:p>
        </p:txBody>
      </p:sp>
      <p:sp>
        <p:nvSpPr>
          <p:cNvPr id="42" name="Shape 40"/>
          <p:cNvSpPr/>
          <p:nvPr/>
        </p:nvSpPr>
        <p:spPr>
          <a:xfrm>
            <a:off x="2240280" y="1508760"/>
            <a:ext cx="475488" cy="475488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240280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5G-A</a:t>
            </a:r>
            <a:endParaRPr lang="ar-SA" sz="1000" dirty="0"/>
          </a:p>
        </p:txBody>
      </p:sp>
      <p:sp>
        <p:nvSpPr>
          <p:cNvPr id="44" name="Shape 42"/>
          <p:cNvSpPr/>
          <p:nvPr/>
        </p:nvSpPr>
        <p:spPr>
          <a:xfrm>
            <a:off x="1691640" y="2075688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764792" y="2148840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5GC + AI/ML</a:t>
            </a:r>
            <a:endParaRPr lang="ar-SA" sz="950" dirty="0"/>
          </a:p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تقطيع متقدم</a:t>
            </a:r>
            <a:endParaRPr lang="ar-SA" sz="950" dirty="0"/>
          </a:p>
        </p:txBody>
      </p:sp>
      <p:sp>
        <p:nvSpPr>
          <p:cNvPr id="46" name="Shape 44"/>
          <p:cNvSpPr/>
          <p:nvPr/>
        </p:nvSpPr>
        <p:spPr>
          <a:xfrm>
            <a:off x="1691640" y="3328416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764792" y="3401568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ذكية</a:t>
            </a:r>
            <a:endParaRPr lang="ar-SA" sz="950" dirty="0"/>
          </a:p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طاقة</a:t>
            </a:r>
            <a:endParaRPr lang="ar-SA" sz="950" dirty="0"/>
          </a:p>
        </p:txBody>
      </p:sp>
      <p:sp>
        <p:nvSpPr>
          <p:cNvPr id="48" name="Shape 46"/>
          <p:cNvSpPr/>
          <p:nvPr/>
        </p:nvSpPr>
        <p:spPr>
          <a:xfrm>
            <a:off x="1691640" y="4581144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764792" y="4654296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ELAA-MM</a:t>
            </a:r>
            <a:endParaRPr lang="ar-SA" sz="950" dirty="0"/>
          </a:p>
          <a:p>
            <a:pPr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NTN + RedCap</a:t>
            </a:r>
            <a:endParaRPr lang="ar-SA" sz="950" dirty="0"/>
          </a:p>
        </p:txBody>
      </p:sp>
      <p:sp>
        <p:nvSpPr>
          <p:cNvPr id="50" name="Shape 48"/>
          <p:cNvSpPr/>
          <p:nvPr/>
        </p:nvSpPr>
        <p:spPr>
          <a:xfrm>
            <a:off x="557784" y="1508760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57784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6G</a:t>
            </a:r>
            <a:endParaRPr lang="ar-SA" sz="1300" dirty="0"/>
          </a:p>
        </p:txBody>
      </p:sp>
      <p:sp>
        <p:nvSpPr>
          <p:cNvPr id="52" name="Shape 50"/>
          <p:cNvSpPr/>
          <p:nvPr/>
        </p:nvSpPr>
        <p:spPr>
          <a:xfrm>
            <a:off x="9144" y="2075688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FEAE6"/>
          </a:solidFill>
          <a:ln w="12700">
            <a:solidFill>
              <a:srgbClr val="FFEAE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2296" y="2148840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نواة أصيلة بالذكاء</a:t>
            </a:r>
            <a:endParaRPr lang="ar-SA" sz="950" dirty="0"/>
          </a:p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حوسبة + اتصال + استشعار</a:t>
            </a:r>
            <a:endParaRPr lang="ar-SA" sz="950" dirty="0"/>
          </a:p>
        </p:txBody>
      </p:sp>
      <p:sp>
        <p:nvSpPr>
          <p:cNvPr id="54" name="Shape 52"/>
          <p:cNvSpPr/>
          <p:nvPr/>
        </p:nvSpPr>
        <p:spPr>
          <a:xfrm>
            <a:off x="9144" y="3328416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2296" y="3401568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Cell-free</a:t>
            </a:r>
            <a:endParaRPr lang="ar-SA" sz="950" dirty="0"/>
          </a:p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أرضية-فضائية موحدة</a:t>
            </a:r>
            <a:endParaRPr lang="ar-SA" sz="950" dirty="0"/>
          </a:p>
        </p:txBody>
      </p:sp>
      <p:sp>
        <p:nvSpPr>
          <p:cNvPr id="56" name="Shape 54"/>
          <p:cNvSpPr/>
          <p:nvPr/>
        </p:nvSpPr>
        <p:spPr>
          <a:xfrm>
            <a:off x="9144" y="4581144"/>
            <a:ext cx="1572768" cy="1143000"/>
          </a:xfrm>
          <a:prstGeom prst="roundRect">
            <a:avLst>
              <a:gd name="adj" fmla="val 9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296" y="4654296"/>
            <a:ext cx="14264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Sub-THz — RIS</a:t>
            </a:r>
            <a:endParaRPr lang="ar-SA" sz="950" dirty="0"/>
          </a:p>
          <a:p>
            <a:pPr rtl="1" algn="ctr" indent="0" marL="0">
              <a:buNone/>
            </a:pPr>
            <a:r>
              <a:rPr lang="ar-SA" altLang="en-US" sz="9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راديو بالذكاء</a:t>
            </a:r>
            <a:endParaRPr lang="ar-SA" sz="950" dirty="0"/>
          </a:p>
        </p:txBody>
      </p:sp>
      <p:sp>
        <p:nvSpPr>
          <p:cNvPr id="58" name="Shape 56"/>
          <p:cNvSpPr/>
          <p:nvPr/>
        </p:nvSpPr>
        <p:spPr>
          <a:xfrm flipH="1">
            <a:off x="548640" y="5852160"/>
            <a:ext cx="9509760" cy="457200"/>
          </a:xfrm>
          <a:prstGeom prst="rightArrow">
            <a:avLst/>
          </a:prstGeom>
          <a:solidFill>
            <a:srgbClr val="D9F1FA"/>
          </a:solidFill>
          <a:ln w="12700">
            <a:solidFill>
              <a:srgbClr val="D9F1F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188720" y="58521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اتجاه التطور: مركزية → تسطيح → افتراضية سحابية → ذكاء اصطناعي أصيل</a:t>
            </a:r>
            <a:endParaRPr lang="ar-SA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ar-SA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الاستخدام: من الصوت إلى الاستشعار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جيل فتح فئة جديدة من الخدمات — والقيمة انتقلت من المستهلك إلى الصناعات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9939528" y="1508760"/>
            <a:ext cx="1700784" cy="397764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97312" y="1691640"/>
            <a:ext cx="585216" cy="585216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97312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2G</a:t>
            </a:r>
            <a:endParaRPr lang="ar-SA" sz="1600" dirty="0"/>
          </a:p>
        </p:txBody>
      </p:sp>
      <p:sp>
        <p:nvSpPr>
          <p:cNvPr id="7" name="Shape 5"/>
          <p:cNvSpPr/>
          <p:nvPr/>
        </p:nvSpPr>
        <p:spPr>
          <a:xfrm>
            <a:off x="10543032" y="2468880"/>
            <a:ext cx="493776" cy="493776"/>
          </a:xfrm>
          <a:prstGeom prst="ellipse">
            <a:avLst/>
          </a:prstGeom>
          <a:solidFill>
            <a:srgbClr val="EAECEF"/>
          </a:solidFill>
          <a:ln w="12700">
            <a:solidFill>
              <a:srgbClr val="EAECE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786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12680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صوت رقمي</a:t>
            </a:r>
            <a:endParaRPr lang="ar-SA" sz="1050" dirty="0"/>
          </a:p>
        </p:txBody>
      </p:sp>
      <p:sp>
        <p:nvSpPr>
          <p:cNvPr id="10" name="Shape 7"/>
          <p:cNvSpPr/>
          <p:nvPr/>
        </p:nvSpPr>
        <p:spPr>
          <a:xfrm>
            <a:off x="10543032" y="3456432"/>
            <a:ext cx="493776" cy="493776"/>
          </a:xfrm>
          <a:prstGeom prst="ellipse">
            <a:avLst/>
          </a:prstGeom>
          <a:solidFill>
            <a:srgbClr val="EAECEF"/>
          </a:solidFill>
          <a:ln w="12700">
            <a:solidFill>
              <a:srgbClr val="EAECE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35661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012680" y="4005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الرسائل القصيرة</a:t>
            </a:r>
            <a:endParaRPr lang="ar-SA" sz="1050" dirty="0"/>
          </a:p>
        </p:txBody>
      </p:sp>
      <p:sp>
        <p:nvSpPr>
          <p:cNvPr id="13" name="Shape 9"/>
          <p:cNvSpPr/>
          <p:nvPr/>
        </p:nvSpPr>
        <p:spPr>
          <a:xfrm>
            <a:off x="10543032" y="4443984"/>
            <a:ext cx="493776" cy="493776"/>
          </a:xfrm>
          <a:prstGeom prst="ellipse">
            <a:avLst/>
          </a:prstGeom>
          <a:solidFill>
            <a:srgbClr val="EAECEF"/>
          </a:solidFill>
          <a:ln w="12700">
            <a:solidFill>
              <a:srgbClr val="EAECE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455371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12680" y="4992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التجوال الدولي</a:t>
            </a:r>
            <a:endParaRPr lang="ar-SA" sz="1050" dirty="0"/>
          </a:p>
        </p:txBody>
      </p:sp>
      <p:sp>
        <p:nvSpPr>
          <p:cNvPr id="16" name="Shape 11"/>
          <p:cNvSpPr/>
          <p:nvPr/>
        </p:nvSpPr>
        <p:spPr>
          <a:xfrm>
            <a:off x="8065008" y="1508760"/>
            <a:ext cx="1700784" cy="397764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22792" y="1691640"/>
            <a:ext cx="585216" cy="585216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622792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3G</a:t>
            </a:r>
            <a:endParaRPr lang="ar-SA" sz="1600" dirty="0"/>
          </a:p>
        </p:txBody>
      </p:sp>
      <p:sp>
        <p:nvSpPr>
          <p:cNvPr id="19" name="Shape 14"/>
          <p:cNvSpPr/>
          <p:nvPr/>
        </p:nvSpPr>
        <p:spPr>
          <a:xfrm>
            <a:off x="8668512" y="2468880"/>
            <a:ext cx="493776" cy="493776"/>
          </a:xfrm>
          <a:prstGeom prst="ellipse">
            <a:avLst/>
          </a:prstGeom>
          <a:solidFill>
            <a:srgbClr val="DCE7F1"/>
          </a:solidFill>
          <a:ln w="12700">
            <a:solidFill>
              <a:srgbClr val="DCE7F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257860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138160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مكالمات فيديو</a:t>
            </a:r>
            <a:endParaRPr lang="ar-SA" sz="1050" dirty="0"/>
          </a:p>
        </p:txBody>
      </p:sp>
      <p:sp>
        <p:nvSpPr>
          <p:cNvPr id="22" name="Shape 16"/>
          <p:cNvSpPr/>
          <p:nvPr/>
        </p:nvSpPr>
        <p:spPr>
          <a:xfrm>
            <a:off x="8668512" y="3456432"/>
            <a:ext cx="493776" cy="493776"/>
          </a:xfrm>
          <a:prstGeom prst="ellipse">
            <a:avLst/>
          </a:prstGeom>
          <a:solidFill>
            <a:srgbClr val="DCE7F1"/>
          </a:solidFill>
          <a:ln w="12700">
            <a:solidFill>
              <a:srgbClr val="DCE7F1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5661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138160" y="4005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الهواتف الذكية</a:t>
            </a:r>
            <a:endParaRPr lang="ar-SA" sz="1050" dirty="0"/>
          </a:p>
        </p:txBody>
      </p:sp>
      <p:sp>
        <p:nvSpPr>
          <p:cNvPr id="25" name="Shape 18"/>
          <p:cNvSpPr/>
          <p:nvPr/>
        </p:nvSpPr>
        <p:spPr>
          <a:xfrm>
            <a:off x="8668512" y="4443984"/>
            <a:ext cx="493776" cy="493776"/>
          </a:xfrm>
          <a:prstGeom prst="ellipse">
            <a:avLst/>
          </a:prstGeom>
          <a:solidFill>
            <a:srgbClr val="DCE7F1"/>
          </a:solidFill>
          <a:ln w="12700">
            <a:solidFill>
              <a:srgbClr val="DCE7F1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455371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138160" y="4992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الخرائط والموقع</a:t>
            </a:r>
            <a:endParaRPr lang="ar-SA" sz="1050" dirty="0"/>
          </a:p>
        </p:txBody>
      </p:sp>
      <p:sp>
        <p:nvSpPr>
          <p:cNvPr id="28" name="Shape 20"/>
          <p:cNvSpPr/>
          <p:nvPr/>
        </p:nvSpPr>
        <p:spPr>
          <a:xfrm>
            <a:off x="6190488" y="1508760"/>
            <a:ext cx="1700784" cy="397764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748272" y="1691640"/>
            <a:ext cx="585216" cy="585216"/>
          </a:xfrm>
          <a:prstGeom prst="ellipse">
            <a:avLst/>
          </a:prstGeom>
          <a:solidFill>
            <a:srgbClr val="1FB8A6"/>
          </a:solidFill>
          <a:ln w="12700">
            <a:solidFill>
              <a:srgbClr val="1FB8A6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748272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</a:t>
            </a:r>
            <a:endParaRPr lang="ar-SA" sz="1600" dirty="0"/>
          </a:p>
        </p:txBody>
      </p:sp>
      <p:sp>
        <p:nvSpPr>
          <p:cNvPr id="31" name="Shape 23"/>
          <p:cNvSpPr/>
          <p:nvPr/>
        </p:nvSpPr>
        <p:spPr>
          <a:xfrm>
            <a:off x="6793992" y="2468880"/>
            <a:ext cx="493776" cy="493776"/>
          </a:xfrm>
          <a:prstGeom prst="ellipse">
            <a:avLst/>
          </a:prstGeom>
          <a:solidFill>
            <a:srgbClr val="D7F2EF"/>
          </a:solidFill>
          <a:ln w="12700">
            <a:solidFill>
              <a:srgbClr val="D7F2EF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2578608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263640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بث الفيديو HD</a:t>
            </a:r>
            <a:endParaRPr lang="ar-SA" sz="1050" dirty="0"/>
          </a:p>
        </p:txBody>
      </p:sp>
      <p:sp>
        <p:nvSpPr>
          <p:cNvPr id="34" name="Shape 25"/>
          <p:cNvSpPr/>
          <p:nvPr/>
        </p:nvSpPr>
        <p:spPr>
          <a:xfrm>
            <a:off x="6793992" y="3456432"/>
            <a:ext cx="493776" cy="493776"/>
          </a:xfrm>
          <a:prstGeom prst="ellipse">
            <a:avLst/>
          </a:prstGeom>
          <a:solidFill>
            <a:srgbClr val="D7F2EF"/>
          </a:solidFill>
          <a:ln w="12700">
            <a:solidFill>
              <a:srgbClr val="D7F2EF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3566160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263640" y="4005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اقتصاد التطبيقات</a:t>
            </a:r>
            <a:endParaRPr lang="ar-SA" sz="1050" dirty="0"/>
          </a:p>
        </p:txBody>
      </p:sp>
      <p:sp>
        <p:nvSpPr>
          <p:cNvPr id="37" name="Shape 27"/>
          <p:cNvSpPr/>
          <p:nvPr/>
        </p:nvSpPr>
        <p:spPr>
          <a:xfrm>
            <a:off x="6793992" y="4443984"/>
            <a:ext cx="493776" cy="493776"/>
          </a:xfrm>
          <a:prstGeom prst="ellipse">
            <a:avLst/>
          </a:prstGeom>
          <a:solidFill>
            <a:srgbClr val="D7F2EF"/>
          </a:solidFill>
          <a:ln w="12700">
            <a:solidFill>
              <a:srgbClr val="D7F2EF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3720" y="4553712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263640" y="4992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NB-IoT / LTE-M</a:t>
            </a:r>
            <a:endParaRPr lang="ar-SA" sz="1050" dirty="0"/>
          </a:p>
        </p:txBody>
      </p:sp>
      <p:sp>
        <p:nvSpPr>
          <p:cNvPr id="40" name="Shape 29"/>
          <p:cNvSpPr/>
          <p:nvPr/>
        </p:nvSpPr>
        <p:spPr>
          <a:xfrm>
            <a:off x="4315968" y="1508760"/>
            <a:ext cx="1700784" cy="397764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4873752" y="1691640"/>
            <a:ext cx="585216" cy="585216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4873752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</a:t>
            </a:r>
            <a:endParaRPr lang="ar-SA" sz="1600" dirty="0"/>
          </a:p>
        </p:txBody>
      </p:sp>
      <p:sp>
        <p:nvSpPr>
          <p:cNvPr id="43" name="Shape 32"/>
          <p:cNvSpPr/>
          <p:nvPr/>
        </p:nvSpPr>
        <p:spPr>
          <a:xfrm>
            <a:off x="4919472" y="2468880"/>
            <a:ext cx="493776" cy="493776"/>
          </a:xfrm>
          <a:prstGeom prst="ellipse">
            <a:avLst/>
          </a:prstGeom>
          <a:solidFill>
            <a:srgbClr val="D1EEF9"/>
          </a:solidFill>
          <a:ln w="12700">
            <a:solidFill>
              <a:srgbClr val="D1EEF9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578608"/>
            <a:ext cx="274320" cy="274320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4389120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المصانع الذكية</a:t>
            </a:r>
            <a:endParaRPr lang="ar-SA" sz="1050" dirty="0"/>
          </a:p>
        </p:txBody>
      </p:sp>
      <p:sp>
        <p:nvSpPr>
          <p:cNvPr id="46" name="Shape 34"/>
          <p:cNvSpPr/>
          <p:nvPr/>
        </p:nvSpPr>
        <p:spPr>
          <a:xfrm>
            <a:off x="4919472" y="3456432"/>
            <a:ext cx="493776" cy="493776"/>
          </a:xfrm>
          <a:prstGeom prst="ellipse">
            <a:avLst/>
          </a:prstGeom>
          <a:solidFill>
            <a:srgbClr val="D1EEF9"/>
          </a:solidFill>
          <a:ln w="12700">
            <a:solidFill>
              <a:srgbClr val="D1EEF9"/>
            </a:solidFill>
            <a:prstDash val="solid"/>
          </a:ln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566160"/>
            <a:ext cx="274320" cy="27432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4389120" y="4005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FWA بديل الألياف</a:t>
            </a:r>
            <a:endParaRPr lang="ar-SA" sz="1050" dirty="0"/>
          </a:p>
        </p:txBody>
      </p:sp>
      <p:sp>
        <p:nvSpPr>
          <p:cNvPr id="49" name="Shape 36"/>
          <p:cNvSpPr/>
          <p:nvPr/>
        </p:nvSpPr>
        <p:spPr>
          <a:xfrm>
            <a:off x="4919472" y="4443984"/>
            <a:ext cx="493776" cy="493776"/>
          </a:xfrm>
          <a:prstGeom prst="ellipse">
            <a:avLst/>
          </a:prstGeom>
          <a:solidFill>
            <a:srgbClr val="D1EEF9"/>
          </a:solidFill>
          <a:ln w="12700">
            <a:solidFill>
              <a:srgbClr val="D1EEF9"/>
            </a:solidFill>
            <a:prstDash val="solid"/>
          </a:ln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4553712"/>
            <a:ext cx="274320" cy="274320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4389120" y="4992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المركبات المتصلة</a:t>
            </a:r>
            <a:endParaRPr lang="ar-SA" sz="1050" dirty="0"/>
          </a:p>
        </p:txBody>
      </p:sp>
      <p:sp>
        <p:nvSpPr>
          <p:cNvPr id="52" name="Shape 38"/>
          <p:cNvSpPr/>
          <p:nvPr/>
        </p:nvSpPr>
        <p:spPr>
          <a:xfrm>
            <a:off x="2441448" y="1508760"/>
            <a:ext cx="1700784" cy="397764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2999232" y="1691640"/>
            <a:ext cx="585216" cy="58521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4" name="Text 40"/>
          <p:cNvSpPr txBox="1"/>
          <p:nvPr/>
        </p:nvSpPr>
        <p:spPr>
          <a:xfrm>
            <a:off x="2999232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5G-A</a:t>
            </a:r>
            <a:endParaRPr lang="ar-SA" sz="1200" dirty="0"/>
          </a:p>
        </p:txBody>
      </p:sp>
      <p:sp>
        <p:nvSpPr>
          <p:cNvPr id="55" name="Shape 41"/>
          <p:cNvSpPr/>
          <p:nvPr/>
        </p:nvSpPr>
        <p:spPr>
          <a:xfrm>
            <a:off x="3044952" y="2468880"/>
            <a:ext cx="493776" cy="493776"/>
          </a:xfrm>
          <a:prstGeom prst="ellipse">
            <a:avLst/>
          </a:prstGeom>
          <a:solidFill>
            <a:srgbClr val="E7E2FF"/>
          </a:solidFill>
          <a:ln w="12700">
            <a:solidFill>
              <a:srgbClr val="E7E2FF"/>
            </a:solidFill>
            <a:prstDash val="solid"/>
          </a:ln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54680" y="2578608"/>
            <a:ext cx="274320" cy="274320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2514600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الواقع الممتد XR</a:t>
            </a:r>
            <a:endParaRPr lang="ar-SA" sz="1050" dirty="0"/>
          </a:p>
        </p:txBody>
      </p:sp>
      <p:sp>
        <p:nvSpPr>
          <p:cNvPr id="58" name="Shape 43"/>
          <p:cNvSpPr/>
          <p:nvPr/>
        </p:nvSpPr>
        <p:spPr>
          <a:xfrm>
            <a:off x="3044952" y="3456432"/>
            <a:ext cx="493776" cy="493776"/>
          </a:xfrm>
          <a:prstGeom prst="ellipse">
            <a:avLst/>
          </a:prstGeom>
          <a:solidFill>
            <a:srgbClr val="E7E2FF"/>
          </a:solidFill>
          <a:ln w="12700">
            <a:solidFill>
              <a:srgbClr val="E7E2FF"/>
            </a:solidFill>
            <a:prstDash val="solid"/>
          </a:ln>
        </p:spPr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54680" y="3566160"/>
            <a:ext cx="274320" cy="274320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2514600" y="4005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تغطية الأقمار NTN</a:t>
            </a:r>
            <a:endParaRPr lang="ar-SA" sz="1050" dirty="0"/>
          </a:p>
        </p:txBody>
      </p:sp>
      <p:sp>
        <p:nvSpPr>
          <p:cNvPr id="61" name="Shape 45"/>
          <p:cNvSpPr/>
          <p:nvPr/>
        </p:nvSpPr>
        <p:spPr>
          <a:xfrm>
            <a:off x="3044952" y="4443984"/>
            <a:ext cx="493776" cy="493776"/>
          </a:xfrm>
          <a:prstGeom prst="ellipse">
            <a:avLst/>
          </a:prstGeom>
          <a:solidFill>
            <a:srgbClr val="E7E2FF"/>
          </a:solidFill>
          <a:ln w="12700">
            <a:solidFill>
              <a:srgbClr val="E7E2FF"/>
            </a:solidFill>
            <a:prstDash val="solid"/>
          </a:ln>
        </p:spPr>
      </p:sp>
      <p:pic>
        <p:nvPicPr>
          <p:cNvPr id="6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54680" y="4553712"/>
            <a:ext cx="274320" cy="274320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2514600" y="4992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RedCap للأجهزة</a:t>
            </a:r>
            <a:endParaRPr lang="ar-SA" sz="1050" dirty="0"/>
          </a:p>
        </p:txBody>
      </p:sp>
      <p:sp>
        <p:nvSpPr>
          <p:cNvPr id="64" name="Shape 47"/>
          <p:cNvSpPr/>
          <p:nvPr/>
        </p:nvSpPr>
        <p:spPr>
          <a:xfrm>
            <a:off x="566928" y="1508760"/>
            <a:ext cx="1700784" cy="397764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1124712" y="1691640"/>
            <a:ext cx="585216" cy="585216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66" name="Text 49"/>
          <p:cNvSpPr txBox="1"/>
          <p:nvPr/>
        </p:nvSpPr>
        <p:spPr>
          <a:xfrm>
            <a:off x="1124712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6G</a:t>
            </a:r>
            <a:endParaRPr lang="ar-SA" sz="1600" dirty="0"/>
          </a:p>
        </p:txBody>
      </p:sp>
      <p:sp>
        <p:nvSpPr>
          <p:cNvPr id="67" name="Shape 50"/>
          <p:cNvSpPr/>
          <p:nvPr/>
        </p:nvSpPr>
        <p:spPr>
          <a:xfrm>
            <a:off x="1170432" y="2468880"/>
            <a:ext cx="493776" cy="493776"/>
          </a:xfrm>
          <a:prstGeom prst="ellipse">
            <a:avLst/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pic>
        <p:nvPicPr>
          <p:cNvPr id="6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80160" y="2578608"/>
            <a:ext cx="274320" cy="274320"/>
          </a:xfrm>
          <a:prstGeom prst="rect">
            <a:avLst/>
          </a:prstGeom>
        </p:spPr>
      </p:pic>
      <p:sp>
        <p:nvSpPr>
          <p:cNvPr id="69" name="Text 51"/>
          <p:cNvSpPr txBox="1"/>
          <p:nvPr/>
        </p:nvSpPr>
        <p:spPr>
          <a:xfrm>
            <a:off x="640080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الروبوتات والتوائم</a:t>
            </a:r>
            <a:endParaRPr lang="ar-SA" sz="1050" dirty="0"/>
          </a:p>
        </p:txBody>
      </p:sp>
      <p:sp>
        <p:nvSpPr>
          <p:cNvPr id="70" name="Shape 52"/>
          <p:cNvSpPr/>
          <p:nvPr/>
        </p:nvSpPr>
        <p:spPr>
          <a:xfrm>
            <a:off x="1170432" y="3456432"/>
            <a:ext cx="493776" cy="493776"/>
          </a:xfrm>
          <a:prstGeom prst="ellipse">
            <a:avLst/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pic>
        <p:nvPicPr>
          <p:cNvPr id="7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80160" y="3566160"/>
            <a:ext cx="274320" cy="274320"/>
          </a:xfrm>
          <a:prstGeom prst="rect">
            <a:avLst/>
          </a:prstGeom>
        </p:spPr>
      </p:pic>
      <p:sp>
        <p:nvSpPr>
          <p:cNvPr id="72" name="Text 53"/>
          <p:cNvSpPr txBox="1"/>
          <p:nvPr/>
        </p:nvSpPr>
        <p:spPr>
          <a:xfrm>
            <a:off x="640080" y="4005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الشبكة كمستشعر</a:t>
            </a:r>
            <a:endParaRPr lang="ar-SA" sz="1050" dirty="0"/>
          </a:p>
        </p:txBody>
      </p:sp>
      <p:sp>
        <p:nvSpPr>
          <p:cNvPr id="73" name="Shape 54"/>
          <p:cNvSpPr/>
          <p:nvPr/>
        </p:nvSpPr>
        <p:spPr>
          <a:xfrm>
            <a:off x="1170432" y="4443984"/>
            <a:ext cx="493776" cy="493776"/>
          </a:xfrm>
          <a:prstGeom prst="ellipse">
            <a:avLst/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pic>
        <p:nvPicPr>
          <p:cNvPr id="7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80160" y="4553712"/>
            <a:ext cx="274320" cy="274320"/>
          </a:xfrm>
          <a:prstGeom prst="rect">
            <a:avLst/>
          </a:prstGeom>
        </p:spPr>
      </p:pic>
      <p:sp>
        <p:nvSpPr>
          <p:cNvPr id="75" name="Text 55"/>
          <p:cNvSpPr txBox="1"/>
          <p:nvPr/>
        </p:nvSpPr>
        <p:spPr>
          <a:xfrm>
            <a:off x="640080" y="4992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الهولوغرام واللمس</a:t>
            </a:r>
            <a:endParaRPr lang="ar-SA" sz="1050" dirty="0"/>
          </a:p>
        </p:txBody>
      </p:sp>
      <p:sp>
        <p:nvSpPr>
          <p:cNvPr id="76" name="Shape 56"/>
          <p:cNvSpPr/>
          <p:nvPr/>
        </p:nvSpPr>
        <p:spPr>
          <a:xfrm>
            <a:off x="548640" y="566928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FF0ED"/>
          </a:solidFill>
          <a:ln w="12700">
            <a:solidFill>
              <a:srgbClr val="FFF0ED"/>
            </a:solidFill>
            <a:prstDash val="solid"/>
          </a:ln>
        </p:spPr>
      </p:sp>
      <p:sp>
        <p:nvSpPr>
          <p:cNvPr id="77" name="Text 57"/>
          <p:cNvSpPr txBox="1"/>
          <p:nvPr/>
        </p:nvSpPr>
        <p:spPr>
          <a:xfrm>
            <a:off x="777240" y="566928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الاتجاه: تحوّل مصدر القيمة من الاشتراك الفردي (ARPU) إلى الشبكات الخاصة والخدمات الصناعية، ومن الاتصال إلى «الاتصال + الحوسبة + الاستشعار».</a:t>
            </a:r>
            <a:endParaRPr lang="ar-SA" sz="1250" dirty="0"/>
          </a:p>
        </p:txBody>
      </p:sp>
      <p:sp>
        <p:nvSpPr>
          <p:cNvPr id="78" name="Text 5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79" name="Text 59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ar-SA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التوجهات الاستراتيجية والتوصيات التنفيذية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ينبغي أن يكون على أجندة القيادة خلال 2026–2030</a:t>
            </a:r>
            <a:endParaRPr lang="ar-SA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46304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التوجهات</a:t>
            </a:r>
            <a:endParaRPr lang="ar-SA" sz="1800" dirty="0"/>
          </a:p>
        </p:txBody>
      </p:sp>
      <p:sp>
        <p:nvSpPr>
          <p:cNvPr id="5" name="Shape 3"/>
          <p:cNvSpPr/>
          <p:nvPr/>
        </p:nvSpPr>
        <p:spPr>
          <a:xfrm>
            <a:off x="11109960" y="1965960"/>
            <a:ext cx="530352" cy="530352"/>
          </a:xfrm>
          <a:prstGeom prst="ellipse">
            <a:avLst/>
          </a:prstGeom>
          <a:solidFill>
            <a:srgbClr val="D1EEF9"/>
          </a:solidFill>
          <a:ln w="12700">
            <a:solidFill>
              <a:srgbClr val="D1EEF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7976" y="209397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09360" y="1920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الطيف يزداد ندرة وارتفاعاً</a:t>
            </a:r>
            <a:endParaRPr lang="ar-SA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24942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المعركة القادمة على ‪6 GHz‬ العلوي و‪7–24 GHz‬؛ WRC-27 سيحدد نطاقات 6G.</a:t>
            </a:r>
            <a:endParaRPr lang="ar-SA" sz="1100" dirty="0"/>
          </a:p>
        </p:txBody>
      </p:sp>
      <p:sp>
        <p:nvSpPr>
          <p:cNvPr id="9" name="Shape 6"/>
          <p:cNvSpPr/>
          <p:nvPr/>
        </p:nvSpPr>
        <p:spPr>
          <a:xfrm>
            <a:off x="11109960" y="2971800"/>
            <a:ext cx="530352" cy="530352"/>
          </a:xfrm>
          <a:prstGeom prst="ellipse">
            <a:avLst/>
          </a:prstGeom>
          <a:solidFill>
            <a:srgbClr val="D1EEF9"/>
          </a:solidFill>
          <a:ln w="12700">
            <a:solidFill>
              <a:srgbClr val="D1EEF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7976" y="309981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09360" y="29260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الشبكة تصبح برمجيات</a:t>
            </a:r>
            <a:endParaRPr lang="ar-SA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325526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النواة السحابية و Open RAN يحولان الإنفاق من الأجهزة إلى البرمجيات والتشغيل.</a:t>
            </a:r>
            <a:endParaRPr lang="ar-SA" sz="1100" dirty="0"/>
          </a:p>
        </p:txBody>
      </p:sp>
      <p:sp>
        <p:nvSpPr>
          <p:cNvPr id="13" name="Shape 9"/>
          <p:cNvSpPr/>
          <p:nvPr/>
        </p:nvSpPr>
        <p:spPr>
          <a:xfrm>
            <a:off x="11109960" y="3977640"/>
            <a:ext cx="530352" cy="530352"/>
          </a:xfrm>
          <a:prstGeom prst="ellipse">
            <a:avLst/>
          </a:prstGeom>
          <a:solidFill>
            <a:srgbClr val="D1EEF9"/>
          </a:solidFill>
          <a:ln w="12700">
            <a:solidFill>
              <a:srgbClr val="D1EEF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76" y="410565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09360" y="39319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في قلب الشبكة</a:t>
            </a:r>
            <a:endParaRPr lang="ar-SA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426110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تحسين الطاقة في 5G-A إلى واجهة راديو مصممة بالذكاء في 6G.</a:t>
            </a:r>
            <a:endParaRPr lang="ar-SA" sz="1100" dirty="0"/>
          </a:p>
        </p:txBody>
      </p:sp>
      <p:sp>
        <p:nvSpPr>
          <p:cNvPr id="17" name="Shape 12"/>
          <p:cNvSpPr/>
          <p:nvPr/>
        </p:nvSpPr>
        <p:spPr>
          <a:xfrm>
            <a:off x="11109960" y="4983480"/>
            <a:ext cx="530352" cy="530352"/>
          </a:xfrm>
          <a:prstGeom prst="ellipse">
            <a:avLst/>
          </a:prstGeom>
          <a:solidFill>
            <a:srgbClr val="D1EEF9"/>
          </a:solidFill>
          <a:ln w="12700">
            <a:solidFill>
              <a:srgbClr val="D1EEF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5111496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09360" y="49377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التقارب الأرضي-الفضائي</a:t>
            </a:r>
            <a:endParaRPr lang="ar-SA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6309360" y="526694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الأقمار منخفضة المدار جزء من الشبكة (NTN) لا منافس لها.</a:t>
            </a:r>
            <a:endParaRPr lang="ar-SA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146304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التوصيات التنفيذية</a:t>
            </a:r>
            <a:endParaRPr lang="ar-SA" sz="1800" dirty="0"/>
          </a:p>
        </p:txBody>
      </p:sp>
      <p:sp>
        <p:nvSpPr>
          <p:cNvPr id="22" name="Shape 16"/>
          <p:cNvSpPr/>
          <p:nvPr/>
        </p:nvSpPr>
        <p:spPr>
          <a:xfrm>
            <a:off x="548640" y="1920240"/>
            <a:ext cx="5330952" cy="896112"/>
          </a:xfrm>
          <a:prstGeom prst="roundRect">
            <a:avLst>
              <a:gd name="adj" fmla="val 122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257800" y="2103120"/>
            <a:ext cx="457200" cy="457200"/>
          </a:xfrm>
          <a:prstGeom prst="ellipse">
            <a:avLst/>
          </a:prstGeom>
          <a:solidFill>
            <a:srgbClr val="1FB8A6"/>
          </a:solidFill>
          <a:ln w="12700">
            <a:solidFill>
              <a:srgbClr val="1FB8A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57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20299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تأمين الطيف</a:t>
            </a:r>
            <a:endParaRPr lang="ar-SA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31520" y="235000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في مزادات ‪6 GHz‬ و mmWave، وحجز موقف واضح تجاه FR3 قبل WRC-27.</a:t>
            </a:r>
            <a:endParaRPr lang="ar-SA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2926080"/>
            <a:ext cx="5330952" cy="896112"/>
          </a:xfrm>
          <a:prstGeom prst="roundRect">
            <a:avLst>
              <a:gd name="adj" fmla="val 122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257800" y="3108960"/>
            <a:ext cx="457200" cy="457200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257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731520" y="3035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الانتقال إلى 5G SA ثم 5G-Advanced</a:t>
            </a:r>
            <a:endParaRPr lang="ar-SA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731520" y="33558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استكمال النواة المستقلة خلال 18 شهراً؛ فهي شرط XR والتقطيع وRedCap.</a:t>
            </a:r>
            <a:endParaRPr lang="ar-SA" sz="1050" dirty="0"/>
          </a:p>
        </p:txBody>
      </p:sp>
      <p:sp>
        <p:nvSpPr>
          <p:cNvPr id="32" name="Shape 26"/>
          <p:cNvSpPr/>
          <p:nvPr/>
        </p:nvSpPr>
        <p:spPr>
          <a:xfrm>
            <a:off x="548640" y="3931920"/>
            <a:ext cx="5330952" cy="896112"/>
          </a:xfrm>
          <a:prstGeom prst="roundRect">
            <a:avLst>
              <a:gd name="adj" fmla="val 122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257800" y="4114800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57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731520" y="4041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تحقيق الدخل من B2B</a:t>
            </a:r>
            <a:endParaRPr lang="ar-SA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731520" y="436168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عروض شبكات خاصة وتقطيع للقطاعات الصناعية واللوجستية والصحة.</a:t>
            </a:r>
            <a:endParaRPr lang="ar-SA" sz="1050" dirty="0"/>
          </a:p>
        </p:txBody>
      </p:sp>
      <p:sp>
        <p:nvSpPr>
          <p:cNvPr id="37" name="Shape 31"/>
          <p:cNvSpPr/>
          <p:nvPr/>
        </p:nvSpPr>
        <p:spPr>
          <a:xfrm>
            <a:off x="548640" y="4937760"/>
            <a:ext cx="5330952" cy="896112"/>
          </a:xfrm>
          <a:prstGeom prst="roundRect">
            <a:avLst>
              <a:gd name="adj" fmla="val 122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257800" y="5120640"/>
            <a:ext cx="457200" cy="45720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52578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731520" y="50474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الاستعداد المبكر لـ 6G</a:t>
            </a:r>
            <a:endParaRPr lang="ar-SA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731520" y="53675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الانخراط في 3GPP/ITU، وتجارب Sub-THz وISAC، وشراكات الأقمار NTN.</a:t>
            </a:r>
            <a:endParaRPr lang="ar-SA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شبكات الاتصالات المتنقلة | عرض تنفيذي</a:t>
            </a:r>
            <a:endParaRPr lang="ar-SA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11155680" y="644652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ar-SA" altLang="en-US" sz="900" dirty="0">
                <a:solidFill>
                  <a:srgbClr val="9A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ar-SA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</a:t>
            </a:r>
            <a:endParaRPr lang="ar-SA" sz="3600" dirty="0"/>
          </a:p>
        </p:txBody>
      </p:sp>
      <p:sp>
        <p:nvSpPr>
          <p:cNvPr id="3" name="Shape 1"/>
          <p:cNvSpPr/>
          <p:nvPr/>
        </p:nvSpPr>
        <p:spPr>
          <a:xfrm>
            <a:off x="9144000" y="1828800"/>
            <a:ext cx="2496312" cy="685800"/>
          </a:xfrm>
          <a:prstGeom prst="roundRect">
            <a:avLst>
              <a:gd name="adj" fmla="val 13333"/>
            </a:avLst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0" y="182880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2G → 3G</a:t>
            </a:r>
            <a:endParaRPr lang="ar-SA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الصوت الرقمي إلى الإنترنت المتنقل</a:t>
            </a:r>
            <a:endParaRPr lang="ar-SA" sz="1700" dirty="0"/>
          </a:p>
        </p:txBody>
      </p:sp>
      <p:sp>
        <p:nvSpPr>
          <p:cNvPr id="6" name="Shape 4"/>
          <p:cNvSpPr/>
          <p:nvPr/>
        </p:nvSpPr>
        <p:spPr>
          <a:xfrm>
            <a:off x="9144000" y="2697480"/>
            <a:ext cx="2496312" cy="685800"/>
          </a:xfrm>
          <a:prstGeom prst="roundRect">
            <a:avLst>
              <a:gd name="adj" fmla="val 13333"/>
            </a:avLst>
          </a:prstGeom>
          <a:solidFill>
            <a:srgbClr val="1FB8A6"/>
          </a:solidFill>
          <a:ln w="12700">
            <a:solidFill>
              <a:srgbClr val="1F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0" y="26974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</a:t>
            </a:r>
            <a:endParaRPr lang="ar-SA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النطاق العريض وشبكة IP الكاملة — أساس اقتصاد التطبيقات</a:t>
            </a:r>
            <a:endParaRPr lang="ar-SA" sz="1700" dirty="0"/>
          </a:p>
        </p:txBody>
      </p:sp>
      <p:sp>
        <p:nvSpPr>
          <p:cNvPr id="9" name="Shape 7"/>
          <p:cNvSpPr/>
          <p:nvPr/>
        </p:nvSpPr>
        <p:spPr>
          <a:xfrm>
            <a:off x="9144000" y="3566160"/>
            <a:ext cx="2496312" cy="685800"/>
          </a:xfrm>
          <a:prstGeom prst="roundRect">
            <a:avLst>
              <a:gd name="adj" fmla="val 13333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0" y="356616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→ 5G-A</a:t>
            </a:r>
            <a:endParaRPr lang="ar-SA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6616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الصناعات: سرعة، موثوقية، كثافة، وذكاء اصطناعي</a:t>
            </a:r>
            <a:endParaRPr lang="ar-SA" sz="1700" dirty="0"/>
          </a:p>
        </p:txBody>
      </p:sp>
      <p:sp>
        <p:nvSpPr>
          <p:cNvPr id="12" name="Shape 10"/>
          <p:cNvSpPr/>
          <p:nvPr/>
        </p:nvSpPr>
        <p:spPr>
          <a:xfrm>
            <a:off x="9144000" y="4434840"/>
            <a:ext cx="2496312" cy="685800"/>
          </a:xfrm>
          <a:prstGeom prst="roundRect">
            <a:avLst>
              <a:gd name="adj" fmla="val 13333"/>
            </a:avLst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0" y="443484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6G</a:t>
            </a:r>
            <a:endParaRPr lang="ar-SA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348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اتصال + حوسبة + استشعار بسرعة تيرابت وزمن 0.1 ملّي ثانية</a:t>
            </a:r>
            <a:endParaRPr lang="ar-SA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 — أسئلة ونقاش</a:t>
            </a:r>
            <a:endParaRPr lang="ar-SA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72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8FA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المصادر: مواصفات 3GPP (Rel-99 إلى Rel-19)، تقارير ITU-R (IMT-2000، IMT-Advanced، IMT-2020، IMT-2030)، GSMA Intelligence، Ericsson Mobility Report.</a:t>
            </a:r>
            <a:endParaRPr lang="ar-SA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تطور شبكات الاتصالات المتنقلة من 2G إلى 6G</dc:title>
  <dc:subject>PptxGenJS Presentation</dc:subject>
  <dc:creator>الإدارة التنفيذية</dc:creator>
  <cp:lastModifiedBy>الإدارة التنفيذية</cp:lastModifiedBy>
  <cp:revision>1</cp:revision>
  <dcterms:created xsi:type="dcterms:W3CDTF">2026-09-08T08:32:18Z</dcterms:created>
  <dcterms:modified xsi:type="dcterms:W3CDTF">2026-09-08T08:32:18Z</dcterms:modified>
</cp:coreProperties>
</file>